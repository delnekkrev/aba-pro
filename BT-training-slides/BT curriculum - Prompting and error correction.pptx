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39" r:id="rId14"/>
    <p:sldId id="341" r:id="rId15"/>
    <p:sldId id="344" r:id="rId16"/>
    <p:sldId id="345" r:id="rId17"/>
    <p:sldId id="271" r:id="rId18"/>
    <p:sldId id="346" r:id="rId19"/>
    <p:sldId id="270" r:id="rId20"/>
    <p:sldId id="347" r:id="rId21"/>
    <p:sldId id="348" r:id="rId22"/>
    <p:sldId id="349" r:id="rId23"/>
    <p:sldId id="338" r:id="rId24"/>
    <p:sldId id="351" r:id="rId25"/>
    <p:sldId id="352" r:id="rId26"/>
    <p:sldId id="267" r:id="rId27"/>
    <p:sldId id="350" r:id="rId28"/>
    <p:sldId id="353" r:id="rId29"/>
    <p:sldId id="276" r:id="rId30"/>
    <p:sldId id="335" r:id="rId31"/>
    <p:sldId id="336" r:id="rId32"/>
    <p:sldId id="354" r:id="rId33"/>
  </p:sldIdLst>
  <p:sldSz cx="9144000" cy="5143500" type="screen16x9"/>
  <p:notesSz cx="6858000" cy="9144000"/>
  <p:embeddedFontLst>
    <p:embeddedFont>
      <p:font typeface="Arvo" panose="020B0604020202020204" charset="0"/>
      <p:regular r:id="rId35"/>
      <p:bold r:id="rId36"/>
      <p:italic r:id="rId37"/>
      <p:boldItalic r:id="rId38"/>
    </p:embeddedFont>
    <p:embeddedFont>
      <p:font typeface="Comic Sans MS" panose="030F0702030302020204" pitchFamily="66" charset="0"/>
      <p:regular r:id="rId39"/>
      <p:bold r:id="rId40"/>
      <p:italic r:id="rId41"/>
      <p:boldItalic r:id="rId42"/>
    </p:embeddedFont>
    <p:embeddedFont>
      <p:font typeface="Gill Sans MT" panose="020B0604020202020204" charset="0"/>
      <p:regular r:id="rId43"/>
      <p:bold r:id="rId44"/>
      <p:italic r:id="rId45"/>
      <p:boldItalic r:id="rId46"/>
    </p:embeddedFont>
    <p:embeddedFont>
      <p:font typeface="Merriweather" panose="020B0604020202020204" charset="0"/>
      <p:regular r:id="rId47"/>
      <p:bold r:id="rId48"/>
      <p:italic r:id="rId49"/>
      <p:boldItalic r:id="rId50"/>
    </p:embeddedFont>
    <p:embeddedFont>
      <p:font typeface="Roboto Condensed" panose="020B0604020202020204" charset="0"/>
      <p:regular r:id="rId51"/>
      <p:bold r:id="rId52"/>
      <p:italic r:id="rId53"/>
      <p:boldItalic r:id="rId54"/>
    </p:embeddedFont>
    <p:embeddedFont>
      <p:font typeface="Roboto Condensed Light" panose="020B0604020202020204" charset="0"/>
      <p:regular r:id="rId55"/>
      <p:bold r:id="rId56"/>
      <p:italic r:id="rId57"/>
      <p:boldItalic r:id="rId58"/>
    </p:embeddedFont>
    <p:embeddedFont>
      <p:font typeface="Work Sans" panose="020B0604020202020204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6B"/>
    <a:srgbClr val="FFFFFF"/>
    <a:srgbClr val="E0896E"/>
    <a:srgbClr val="ECD470"/>
    <a:srgbClr val="B1F77D"/>
    <a:srgbClr val="7E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357D6-78A0-4CBC-8FAE-746BEC7996FD}" v="7" dt="2026-03-18T17:59:44.756"/>
    <p1510:client id="{F185B64D-2019-6B42-AC45-B46D4857D240}" v="1" dt="2026-03-20T12:51:27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27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1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font" Target="fonts/font25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62" Type="http://schemas.openxmlformats.org/officeDocument/2006/relationships/font" Target="fonts/font2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font" Target="fonts/font26.fntdata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Rork" userId="S::emmar@tealwayaba.com::f41ebe30-86e3-420b-9a62-e5b18c938324" providerId="AD" clId="Web-{F185B64D-2019-6B42-AC45-B46D4857D240}"/>
    <pc:docChg chg="addSld">
      <pc:chgData name="Emma Rork" userId="S::emmar@tealwayaba.com::f41ebe30-86e3-420b-9a62-e5b18c938324" providerId="AD" clId="Web-{F185B64D-2019-6B42-AC45-B46D4857D240}" dt="2026-03-20T12:51:27.646" v="0"/>
      <pc:docMkLst>
        <pc:docMk/>
      </pc:docMkLst>
      <pc:sldChg chg="new">
        <pc:chgData name="Emma Rork" userId="S::emmar@tealwayaba.com::f41ebe30-86e3-420b-9a62-e5b18c938324" providerId="AD" clId="Web-{F185B64D-2019-6B42-AC45-B46D4857D240}" dt="2026-03-20T12:51:27.646" v="0"/>
        <pc:sldMkLst>
          <pc:docMk/>
          <pc:sldMk cId="4244606770" sldId="354"/>
        </pc:sldMkLst>
      </pc:sldChg>
    </pc:docChg>
  </pc:docChgLst>
  <pc:docChgLst>
    <pc:chgData name="Emma Rork" userId="f41ebe30-86e3-420b-9a62-e5b18c938324" providerId="ADAL" clId="{0CFCB27E-26EA-4C41-8BEE-276A71FCF496}"/>
    <pc:docChg chg="modSld">
      <pc:chgData name="Emma Rork" userId="f41ebe30-86e3-420b-9a62-e5b18c938324" providerId="ADAL" clId="{0CFCB27E-26EA-4C41-8BEE-276A71FCF496}" dt="2026-03-18T17:59:54.991" v="56" actId="1076"/>
      <pc:docMkLst>
        <pc:docMk/>
      </pc:docMkLst>
      <pc:sldChg chg="addSp modSp mod">
        <pc:chgData name="Emma Rork" userId="f41ebe30-86e3-420b-9a62-e5b18c938324" providerId="ADAL" clId="{0CFCB27E-26EA-4C41-8BEE-276A71FCF496}" dt="2026-03-18T17:59:54.991" v="56" actId="1076"/>
        <pc:sldMkLst>
          <pc:docMk/>
          <pc:sldMk cId="0" sldId="256"/>
        </pc:sldMkLst>
        <pc:spChg chg="add mod">
          <ac:chgData name="Emma Rork" userId="f41ebe30-86e3-420b-9a62-e5b18c938324" providerId="ADAL" clId="{0CFCB27E-26EA-4C41-8BEE-276A71FCF496}" dt="2026-03-18T17:59:51.436" v="55" actId="1076"/>
          <ac:spMkLst>
            <pc:docMk/>
            <pc:sldMk cId="0" sldId="256"/>
            <ac:spMk id="4" creationId="{3D2BD64D-83A3-A786-443A-33ABE1011212}"/>
          </ac:spMkLst>
        </pc:spChg>
        <pc:spChg chg="mod">
          <ac:chgData name="Emma Rork" userId="f41ebe30-86e3-420b-9a62-e5b18c938324" providerId="ADAL" clId="{0CFCB27E-26EA-4C41-8BEE-276A71FCF496}" dt="2026-03-18T17:59:54.991" v="56" actId="1076"/>
          <ac:spMkLst>
            <pc:docMk/>
            <pc:sldMk cId="0" sldId="256"/>
            <ac:spMk id="582" creationId="{00000000-0000-0000-0000-000000000000}"/>
          </ac:spMkLst>
        </pc:spChg>
        <pc:picChg chg="add mod">
          <ac:chgData name="Emma Rork" userId="f41ebe30-86e3-420b-9a62-e5b18c938324" providerId="ADAL" clId="{0CFCB27E-26EA-4C41-8BEE-276A71FCF496}" dt="2026-03-18T17:58:09.447" v="15" actId="14100"/>
          <ac:picMkLst>
            <pc:docMk/>
            <pc:sldMk cId="0" sldId="256"/>
            <ac:picMk id="2" creationId="{A34DC988-AD27-5CA5-84B5-3140A1C64081}"/>
          </ac:picMkLst>
        </pc:picChg>
        <pc:picChg chg="mod">
          <ac:chgData name="Emma Rork" userId="f41ebe30-86e3-420b-9a62-e5b18c938324" providerId="ADAL" clId="{0CFCB27E-26EA-4C41-8BEE-276A71FCF496}" dt="2026-03-18T17:59:44.754" v="53" actId="1076"/>
          <ac:picMkLst>
            <pc:docMk/>
            <pc:sldMk cId="0" sldId="256"/>
            <ac:picMk id="1026" creationId="{4D9DDF72-72FA-14AA-D64E-9108EFB83C6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7B013D-3E08-491D-96F9-8728AB8AC5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A24483-C513-434B-8A72-DC9B7BC14287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i="0"/>
            <a:t>Prompting too soon</a:t>
          </a:r>
          <a:endParaRPr lang="en-US"/>
        </a:p>
      </dgm:t>
    </dgm:pt>
    <dgm:pt modelId="{B94CCF1E-2A17-4C92-9F01-CEB764796B44}" type="parTrans" cxnId="{5431D3CF-AA5A-4DB4-AD5A-F10C06B70D1F}">
      <dgm:prSet/>
      <dgm:spPr/>
      <dgm:t>
        <a:bodyPr/>
        <a:lstStyle/>
        <a:p>
          <a:endParaRPr lang="en-US"/>
        </a:p>
      </dgm:t>
    </dgm:pt>
    <dgm:pt modelId="{42E3DE60-BC5B-4595-80DB-9D432072C508}" type="sibTrans" cxnId="{5431D3CF-AA5A-4DB4-AD5A-F10C06B70D1F}">
      <dgm:prSet/>
      <dgm:spPr/>
      <dgm:t>
        <a:bodyPr/>
        <a:lstStyle/>
        <a:p>
          <a:endParaRPr lang="en-US"/>
        </a:p>
      </dgm:t>
    </dgm:pt>
    <dgm:pt modelId="{D606009A-F85A-43F5-8970-2E29610EB4CC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i="0"/>
            <a:t>Not fading prompts</a:t>
          </a:r>
          <a:endParaRPr lang="en-US"/>
        </a:p>
      </dgm:t>
    </dgm:pt>
    <dgm:pt modelId="{2635F6CF-DD1C-41A5-9718-D83890E362A5}" type="parTrans" cxnId="{07A8A147-C71D-4FC3-B1A7-611209D34017}">
      <dgm:prSet/>
      <dgm:spPr/>
      <dgm:t>
        <a:bodyPr/>
        <a:lstStyle/>
        <a:p>
          <a:endParaRPr lang="en-US"/>
        </a:p>
      </dgm:t>
    </dgm:pt>
    <dgm:pt modelId="{B01238BE-2821-4D19-B86E-3F46BADFD9FE}" type="sibTrans" cxnId="{07A8A147-C71D-4FC3-B1A7-611209D34017}">
      <dgm:prSet/>
      <dgm:spPr/>
      <dgm:t>
        <a:bodyPr/>
        <a:lstStyle/>
        <a:p>
          <a:endParaRPr lang="en-US"/>
        </a:p>
      </dgm:t>
    </dgm:pt>
    <dgm:pt modelId="{604DD4F6-1D4A-46E1-80E2-80AE304F66E0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i="0"/>
            <a:t>Inconsistent prompting</a:t>
          </a:r>
          <a:endParaRPr lang="en-US"/>
        </a:p>
      </dgm:t>
    </dgm:pt>
    <dgm:pt modelId="{77D2974C-3C6D-4CD7-9C66-9FFA0E377AEA}" type="parTrans" cxnId="{733E2EE1-B483-4125-879A-4086F3589562}">
      <dgm:prSet/>
      <dgm:spPr/>
      <dgm:t>
        <a:bodyPr/>
        <a:lstStyle/>
        <a:p>
          <a:endParaRPr lang="en-US"/>
        </a:p>
      </dgm:t>
    </dgm:pt>
    <dgm:pt modelId="{41174B5B-94B2-43A9-9570-51FAD53DB97E}" type="sibTrans" cxnId="{733E2EE1-B483-4125-879A-4086F3589562}">
      <dgm:prSet/>
      <dgm:spPr/>
      <dgm:t>
        <a:bodyPr/>
        <a:lstStyle/>
        <a:p>
          <a:endParaRPr lang="en-US"/>
        </a:p>
      </dgm:t>
    </dgm:pt>
    <dgm:pt modelId="{87E2C2A3-0E5C-43C8-A050-9B67F8EC7DA6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i="0"/>
            <a:t>Reinforcing prompted responses equally</a:t>
          </a:r>
          <a:endParaRPr lang="en-US"/>
        </a:p>
      </dgm:t>
    </dgm:pt>
    <dgm:pt modelId="{C7A91445-2DFE-4866-8424-34373B1DD6E5}" type="parTrans" cxnId="{219AA367-D7C8-4FCC-A170-4D509567D682}">
      <dgm:prSet/>
      <dgm:spPr/>
      <dgm:t>
        <a:bodyPr/>
        <a:lstStyle/>
        <a:p>
          <a:endParaRPr lang="en-US"/>
        </a:p>
      </dgm:t>
    </dgm:pt>
    <dgm:pt modelId="{82C12242-8C38-436A-9745-BDD321F5166B}" type="sibTrans" cxnId="{219AA367-D7C8-4FCC-A170-4D509567D682}">
      <dgm:prSet/>
      <dgm:spPr/>
      <dgm:t>
        <a:bodyPr/>
        <a:lstStyle/>
        <a:p>
          <a:endParaRPr lang="en-US"/>
        </a:p>
      </dgm:t>
    </dgm:pt>
    <dgm:pt modelId="{3F9FF046-424D-45F1-945D-E512606065A5}" type="pres">
      <dgm:prSet presAssocID="{DC7B013D-3E08-491D-96F9-8728AB8AC5FE}" presName="linear" presStyleCnt="0">
        <dgm:presLayoutVars>
          <dgm:animLvl val="lvl"/>
          <dgm:resizeHandles val="exact"/>
        </dgm:presLayoutVars>
      </dgm:prSet>
      <dgm:spPr/>
    </dgm:pt>
    <dgm:pt modelId="{3EA87CFF-AECA-4C9B-99DC-3D610BF90C61}" type="pres">
      <dgm:prSet presAssocID="{E1A24483-C513-434B-8A72-DC9B7BC142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629894-FAAA-437B-BFE6-6033067FF3C7}" type="pres">
      <dgm:prSet presAssocID="{42E3DE60-BC5B-4595-80DB-9D432072C508}" presName="spacer" presStyleCnt="0"/>
      <dgm:spPr/>
    </dgm:pt>
    <dgm:pt modelId="{455E8A1F-0547-49DF-A8E3-6F5DE16BCAC5}" type="pres">
      <dgm:prSet presAssocID="{D606009A-F85A-43F5-8970-2E29610EB4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F0FD10-14D0-40D7-A5D1-7218B1DCB344}" type="pres">
      <dgm:prSet presAssocID="{B01238BE-2821-4D19-B86E-3F46BADFD9FE}" presName="spacer" presStyleCnt="0"/>
      <dgm:spPr/>
    </dgm:pt>
    <dgm:pt modelId="{C6BC20B1-D527-41B7-BDA4-900BDC6E4438}" type="pres">
      <dgm:prSet presAssocID="{604DD4F6-1D4A-46E1-80E2-80AE304F66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B05C5C-B7A8-4F6B-8F27-30209A1B6C9C}" type="pres">
      <dgm:prSet presAssocID="{41174B5B-94B2-43A9-9570-51FAD53DB97E}" presName="spacer" presStyleCnt="0"/>
      <dgm:spPr/>
    </dgm:pt>
    <dgm:pt modelId="{4D9FC056-0A9A-4355-8671-53CCBAEFBE63}" type="pres">
      <dgm:prSet presAssocID="{87E2C2A3-0E5C-43C8-A050-9B67F8EC7D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B00205-B53C-43AF-A367-5676E7C7E276}" type="presOf" srcId="{604DD4F6-1D4A-46E1-80E2-80AE304F66E0}" destId="{C6BC20B1-D527-41B7-BDA4-900BDC6E4438}" srcOrd="0" destOrd="0" presId="urn:microsoft.com/office/officeart/2005/8/layout/vList2"/>
    <dgm:cxn modelId="{99EDB03B-8EAC-4E27-9CE3-A76D42CF7445}" type="presOf" srcId="{D606009A-F85A-43F5-8970-2E29610EB4CC}" destId="{455E8A1F-0547-49DF-A8E3-6F5DE16BCAC5}" srcOrd="0" destOrd="0" presId="urn:microsoft.com/office/officeart/2005/8/layout/vList2"/>
    <dgm:cxn modelId="{07A8A147-C71D-4FC3-B1A7-611209D34017}" srcId="{DC7B013D-3E08-491D-96F9-8728AB8AC5FE}" destId="{D606009A-F85A-43F5-8970-2E29610EB4CC}" srcOrd="1" destOrd="0" parTransId="{2635F6CF-DD1C-41A5-9718-D83890E362A5}" sibTransId="{B01238BE-2821-4D19-B86E-3F46BADFD9FE}"/>
    <dgm:cxn modelId="{219AA367-D7C8-4FCC-A170-4D509567D682}" srcId="{DC7B013D-3E08-491D-96F9-8728AB8AC5FE}" destId="{87E2C2A3-0E5C-43C8-A050-9B67F8EC7DA6}" srcOrd="3" destOrd="0" parTransId="{C7A91445-2DFE-4866-8424-34373B1DD6E5}" sibTransId="{82C12242-8C38-436A-9745-BDD321F5166B}"/>
    <dgm:cxn modelId="{801CC990-ABFE-453C-BDCB-BC2E768300C8}" type="presOf" srcId="{87E2C2A3-0E5C-43C8-A050-9B67F8EC7DA6}" destId="{4D9FC056-0A9A-4355-8671-53CCBAEFBE63}" srcOrd="0" destOrd="0" presId="urn:microsoft.com/office/officeart/2005/8/layout/vList2"/>
    <dgm:cxn modelId="{72BD9A92-FE72-4ECF-99E7-7B2A4618C8E2}" type="presOf" srcId="{DC7B013D-3E08-491D-96F9-8728AB8AC5FE}" destId="{3F9FF046-424D-45F1-945D-E512606065A5}" srcOrd="0" destOrd="0" presId="urn:microsoft.com/office/officeart/2005/8/layout/vList2"/>
    <dgm:cxn modelId="{9006C098-B443-4253-990E-BF6CC1C1C538}" type="presOf" srcId="{E1A24483-C513-434B-8A72-DC9B7BC14287}" destId="{3EA87CFF-AECA-4C9B-99DC-3D610BF90C61}" srcOrd="0" destOrd="0" presId="urn:microsoft.com/office/officeart/2005/8/layout/vList2"/>
    <dgm:cxn modelId="{5431D3CF-AA5A-4DB4-AD5A-F10C06B70D1F}" srcId="{DC7B013D-3E08-491D-96F9-8728AB8AC5FE}" destId="{E1A24483-C513-434B-8A72-DC9B7BC14287}" srcOrd="0" destOrd="0" parTransId="{B94CCF1E-2A17-4C92-9F01-CEB764796B44}" sibTransId="{42E3DE60-BC5B-4595-80DB-9D432072C508}"/>
    <dgm:cxn modelId="{733E2EE1-B483-4125-879A-4086F3589562}" srcId="{DC7B013D-3E08-491D-96F9-8728AB8AC5FE}" destId="{604DD4F6-1D4A-46E1-80E2-80AE304F66E0}" srcOrd="2" destOrd="0" parTransId="{77D2974C-3C6D-4CD7-9C66-9FFA0E377AEA}" sibTransId="{41174B5B-94B2-43A9-9570-51FAD53DB97E}"/>
    <dgm:cxn modelId="{B334F75C-B147-4C82-85B4-00BC889D2B95}" type="presParOf" srcId="{3F9FF046-424D-45F1-945D-E512606065A5}" destId="{3EA87CFF-AECA-4C9B-99DC-3D610BF90C61}" srcOrd="0" destOrd="0" presId="urn:microsoft.com/office/officeart/2005/8/layout/vList2"/>
    <dgm:cxn modelId="{33D1B371-D957-453B-9F55-653CF075CE26}" type="presParOf" srcId="{3F9FF046-424D-45F1-945D-E512606065A5}" destId="{A3629894-FAAA-437B-BFE6-6033067FF3C7}" srcOrd="1" destOrd="0" presId="urn:microsoft.com/office/officeart/2005/8/layout/vList2"/>
    <dgm:cxn modelId="{A1D0D4E5-CDAC-4D78-BBD4-645B8BEB00FF}" type="presParOf" srcId="{3F9FF046-424D-45F1-945D-E512606065A5}" destId="{455E8A1F-0547-49DF-A8E3-6F5DE16BCAC5}" srcOrd="2" destOrd="0" presId="urn:microsoft.com/office/officeart/2005/8/layout/vList2"/>
    <dgm:cxn modelId="{725FE098-CD4E-4877-86C4-8102F1F5E055}" type="presParOf" srcId="{3F9FF046-424D-45F1-945D-E512606065A5}" destId="{27F0FD10-14D0-40D7-A5D1-7218B1DCB344}" srcOrd="3" destOrd="0" presId="urn:microsoft.com/office/officeart/2005/8/layout/vList2"/>
    <dgm:cxn modelId="{F16515D2-72EB-4694-8E7D-035D2DA79D99}" type="presParOf" srcId="{3F9FF046-424D-45F1-945D-E512606065A5}" destId="{C6BC20B1-D527-41B7-BDA4-900BDC6E4438}" srcOrd="4" destOrd="0" presId="urn:microsoft.com/office/officeart/2005/8/layout/vList2"/>
    <dgm:cxn modelId="{C6174CCE-9B30-4763-99B1-5919F047BC71}" type="presParOf" srcId="{3F9FF046-424D-45F1-945D-E512606065A5}" destId="{6EB05C5C-B7A8-4F6B-8F27-30209A1B6C9C}" srcOrd="5" destOrd="0" presId="urn:microsoft.com/office/officeart/2005/8/layout/vList2"/>
    <dgm:cxn modelId="{286B6644-5BC2-4511-B070-99EEFCAB637A}" type="presParOf" srcId="{3F9FF046-424D-45F1-945D-E512606065A5}" destId="{4D9FC056-0A9A-4355-8671-53CCBAEFBE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87CFF-AECA-4C9B-99DC-3D610BF90C61}">
      <dsp:nvSpPr>
        <dsp:cNvPr id="0" name=""/>
        <dsp:cNvSpPr/>
      </dsp:nvSpPr>
      <dsp:spPr>
        <a:xfrm>
          <a:off x="0" y="15222"/>
          <a:ext cx="6573178" cy="585000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Prompting too soon</a:t>
          </a:r>
          <a:endParaRPr lang="en-US" sz="2500" kern="1200"/>
        </a:p>
      </dsp:txBody>
      <dsp:txXfrm>
        <a:off x="28557" y="43779"/>
        <a:ext cx="6516064" cy="527886"/>
      </dsp:txXfrm>
    </dsp:sp>
    <dsp:sp modelId="{455E8A1F-0547-49DF-A8E3-6F5DE16BCAC5}">
      <dsp:nvSpPr>
        <dsp:cNvPr id="0" name=""/>
        <dsp:cNvSpPr/>
      </dsp:nvSpPr>
      <dsp:spPr>
        <a:xfrm>
          <a:off x="0" y="672223"/>
          <a:ext cx="6573178" cy="585000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Not fading prompts</a:t>
          </a:r>
          <a:endParaRPr lang="en-US" sz="2500" kern="1200"/>
        </a:p>
      </dsp:txBody>
      <dsp:txXfrm>
        <a:off x="28557" y="700780"/>
        <a:ext cx="6516064" cy="527886"/>
      </dsp:txXfrm>
    </dsp:sp>
    <dsp:sp modelId="{C6BC20B1-D527-41B7-BDA4-900BDC6E4438}">
      <dsp:nvSpPr>
        <dsp:cNvPr id="0" name=""/>
        <dsp:cNvSpPr/>
      </dsp:nvSpPr>
      <dsp:spPr>
        <a:xfrm>
          <a:off x="0" y="1329223"/>
          <a:ext cx="6573178" cy="585000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Inconsistent prompting</a:t>
          </a:r>
          <a:endParaRPr lang="en-US" sz="2500" kern="1200"/>
        </a:p>
      </dsp:txBody>
      <dsp:txXfrm>
        <a:off x="28557" y="1357780"/>
        <a:ext cx="6516064" cy="527886"/>
      </dsp:txXfrm>
    </dsp:sp>
    <dsp:sp modelId="{4D9FC056-0A9A-4355-8671-53CCBAEFBE63}">
      <dsp:nvSpPr>
        <dsp:cNvPr id="0" name=""/>
        <dsp:cNvSpPr/>
      </dsp:nvSpPr>
      <dsp:spPr>
        <a:xfrm>
          <a:off x="0" y="1986223"/>
          <a:ext cx="6573178" cy="585000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Reinforcing prompted responses equally</a:t>
          </a:r>
          <a:endParaRPr lang="en-US" sz="2500" kern="1200"/>
        </a:p>
      </dsp:txBody>
      <dsp:txXfrm>
        <a:off x="28557" y="2014780"/>
        <a:ext cx="6516064" cy="527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qCBg0SHZ08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87800c3f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987800c3f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a197599bb7_0_15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a197599bb7_0_15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197599b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197599b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197599bb7_0_15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a197599bb7_0_15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197599bb7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a197599bb7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197599bb7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197599bb7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197599bb7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a197599bb7_0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197599bb7_0_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a197599bb7_0_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197599bb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a197599bb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a197599bb7_0_1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a197599bb7_0_1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197599bb7_0_1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a197599bb7_0_1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>
          <a:extLst>
            <a:ext uri="{FF2B5EF4-FFF2-40B4-BE49-F238E27FC236}">
              <a16:creationId xmlns:a16="http://schemas.microsoft.com/office/drawing/2014/main" id="{6B81AA5A-A894-EB2C-E719-0F254E3A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a197599bb7_0_1370:notes">
            <a:extLst>
              <a:ext uri="{FF2B5EF4-FFF2-40B4-BE49-F238E27FC236}">
                <a16:creationId xmlns:a16="http://schemas.microsoft.com/office/drawing/2014/main" id="{97DA1150-89B9-967A-13FD-752B9C02A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a197599bb7_0_1370:notes">
            <a:extLst>
              <a:ext uri="{FF2B5EF4-FFF2-40B4-BE49-F238E27FC236}">
                <a16:creationId xmlns:a16="http://schemas.microsoft.com/office/drawing/2014/main" id="{5C821D2E-836A-8498-700E-A388F2E29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235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197599bb7_0_2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a197599bb7_0_2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a197599bb7_0_2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a197599bb7_0_2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197599bb7_0_1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197599bb7_0_1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ABA5FFF2-C69C-DD47-6A41-CA1DF61C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197599bb7_0_1568:notes">
            <a:extLst>
              <a:ext uri="{FF2B5EF4-FFF2-40B4-BE49-F238E27FC236}">
                <a16:creationId xmlns:a16="http://schemas.microsoft.com/office/drawing/2014/main" id="{258E6A26-C1E0-0754-75D4-C134CA37F4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197599bb7_0_1568:notes">
            <a:extLst>
              <a:ext uri="{FF2B5EF4-FFF2-40B4-BE49-F238E27FC236}">
                <a16:creationId xmlns:a16="http://schemas.microsoft.com/office/drawing/2014/main" id="{DDB19146-8A03-E51A-47FD-F53580A68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667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B710786D-E493-BE21-0556-0D476A1E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197599bb7_0_1568:notes">
            <a:extLst>
              <a:ext uri="{FF2B5EF4-FFF2-40B4-BE49-F238E27FC236}">
                <a16:creationId xmlns:a16="http://schemas.microsoft.com/office/drawing/2014/main" id="{B9367CE2-B630-2DE6-CA14-8E3B3180D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197599bb7_0_1568:notes">
            <a:extLst>
              <a:ext uri="{FF2B5EF4-FFF2-40B4-BE49-F238E27FC236}">
                <a16:creationId xmlns:a16="http://schemas.microsoft.com/office/drawing/2014/main" id="{D2973E2D-B587-427E-2638-739216ED4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084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a197599bb7_0_3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a197599bb7_0_3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3ace8d9ae2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3ace8d9ae2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Verbal Prompts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https://www.youtube.com/watch?v=ka28BqlWWkE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Cooper, J. O., Heron, T. E., &amp; Heward, W. L. (2007). Applied behavior analysis (2nd ed.). Pearson.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Keri Strejlau. (2019, October 9).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Proximity Prompting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YouTube. </a:t>
            </a:r>
            <a:r>
              <a:rPr lang="en" sz="13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https://www.youtube.com/watch?v=TqCBg0SHZ08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Megan DeBoom. (2019, May 13).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Prompt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https://www.youtube.com/watch?v=5tZe-ZHOeQ4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Prompting least to most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Retrieved December 2, 2025, from https://www.youtube.com/shorts/S9zx1d6DhOM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Samanthaa Levy. (2021, October 21).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RBT Competency Assessment: Shaping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https://www.youtube.com/watch?v=cpd9l7m6xF4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Vanderbilt EBIP. (2016, March 3).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Graduated Guidance for Fine Motor Tasks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https://www.youtube.com/watch?v=ihuJ9hy_a8o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Vanderbilt EBIP. (2015, October 14). </a:t>
            </a:r>
            <a:r>
              <a:rPr lang="en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Progressive Time Delay (PTD) with Picture Cards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https://www.youtube.com/watch?v=U7DbT0o7fUE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3ace8d9ae2e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5" name="Google Shape;2505;g3ace8d9ae2e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08" name="Google Shape;408;p3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09" name="Google Shape;409;p3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11" name="Google Shape;411;p3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412" name="Google Shape;412;p3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14" name="Google Shape;414;p34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415" name="Google Shape;415;p34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6" name="Google Shape;416;p34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417" name="Google Shape;417;p34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4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9" name="Google Shape;419;p34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0" name="Google Shape;420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23" name="Google Shape;423;p35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24" name="Google Shape;424;p35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26" name="Google Shape;426;p35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427" name="Google Shape;427;p35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29" name="Google Shape;429;p3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30" name="Google Shape;430;p3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1" name="Google Shape;431;p3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32" name="Google Shape;432;p3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3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35" name="Google Shape;435;p3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7" name="Google Shape;437;p35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38" name="Google Shape;438;p35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9" name="Google Shape;439;p3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2" name="Google Shape;442;p3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3" name="Google Shape;443;p3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44" name="Google Shape;444;p3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3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47" name="Google Shape;447;p3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9" name="Google Shape;449;p36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50" name="Google Shape;450;p36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51" name="Google Shape;451;p36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53" name="Google Shape;453;p36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454" name="Google Shape;454;p36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56" name="Google Shape;456;p36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 i="1">
                <a:solidFill>
                  <a:srgbClr val="FFFFFF"/>
                </a:solidFill>
              </a:defRPr>
            </a:lvl1pPr>
            <a:lvl2pPr marL="914400" lvl="1" indent="-41910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36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accent5"/>
                </a:solidFill>
              </a:rPr>
              <a:t>“</a:t>
            </a:r>
            <a:endParaRPr sz="7200" b="1">
              <a:solidFill>
                <a:schemeClr val="accent5"/>
              </a:solidFill>
            </a:endParaRPr>
          </a:p>
        </p:txBody>
      </p:sp>
      <p:sp>
        <p:nvSpPr>
          <p:cNvPr id="458" name="Google Shape;458;p3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3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61" name="Google Shape;461;p3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2" name="Google Shape;462;p3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3" name="Google Shape;463;p3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3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5" name="Google Shape;465;p3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66" name="Google Shape;466;p3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8" name="Google Shape;468;p3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469" name="Google Shape;469;p3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70" name="Google Shape;470;p3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471" name="Google Shape;471;p3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72" name="Google Shape;472;p3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73" name="Google Shape;473;p3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74" name="Google Shape;474;p3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75" name="Google Shape;475;p3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476" name="Google Shape;476;p3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37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478" name="Google Shape;478;p3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3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481" name="Google Shape;481;p3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82" name="Google Shape;482;p3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483" name="Google Shape;483;p3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488" name="Google Shape;488;p3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89" name="Google Shape;489;p3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0" name="Google Shape;490;p3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91" name="Google Shape;491;p3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6" name="Google Shape;496;p3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38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498" name="Google Shape;498;p38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499" name="Google Shape;499;p3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39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502" name="Google Shape;502;p39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503" name="Google Shape;503;p39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504" name="Google Shape;504;p39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05" name="Google Shape;505;p3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06" name="Google Shape;506;p39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507" name="Google Shape;507;p3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08" name="Google Shape;508;p3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09" name="Google Shape;509;p39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10" name="Google Shape;510;p3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12" name="Google Shape;512;p3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4" name="Google Shape;514;p3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15" name="Google Shape;515;p3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7" name="Google Shape;517;p3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39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519" name="Google Shape;519;p39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520" name="Google Shape;520;p39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521" name="Google Shape;521;p3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40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524" name="Google Shape;524;p40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525" name="Google Shape;525;p40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526" name="Google Shape;526;p40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27" name="Google Shape;527;p40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28" name="Google Shape;528;p40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529" name="Google Shape;529;p40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30" name="Google Shape;530;p40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31" name="Google Shape;531;p4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32" name="Google Shape;532;p4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3" name="Google Shape;533;p4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34" name="Google Shape;534;p4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4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6" name="Google Shape;536;p4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37" name="Google Shape;537;p4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4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9" name="Google Shape;539;p4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4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41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543" name="Google Shape;543;p41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4" name="Google Shape;544;p41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545" name="Google Shape;545;p41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41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" name="Google Shape;547;p41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548" name="Google Shape;548;p41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41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0" name="Google Shape;550;p41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551" name="Google Shape;551;p4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2" name="Google Shape;552;p41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553" name="Google Shape;553;p4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41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55" name="Google Shape;555;p41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41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" name="Google Shape;557;p41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58" name="Google Shape;558;p41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41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42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562" name="Google Shape;562;p4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3" name="Google Shape;563;p4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64" name="Google Shape;564;p42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42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6" name="Google Shape;566;p42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67" name="Google Shape;567;p42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42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9" name="Google Shape;569;p42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70" name="Google Shape;570;p4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1" name="Google Shape;571;p4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72" name="Google Shape;572;p42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42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4" name="Google Shape;574;p42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75" name="Google Shape;575;p42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42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7" name="Google Shape;577;p4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9600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2829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2858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0010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6769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584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9377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6995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8700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01620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48910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701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4627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2124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9250">
              <a:spcBef>
                <a:spcPts val="600"/>
              </a:spcBef>
              <a:spcAft>
                <a:spcPts val="0"/>
              </a:spcAft>
              <a:buSzPts val="1900"/>
              <a:buChar char="▰"/>
              <a:defRPr/>
            </a:lvl1pPr>
            <a:lvl2pPr marL="914400" lvl="1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2pPr>
            <a:lvl3pPr marL="1371600" lvl="2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3pPr>
            <a:lvl4pPr marL="1828800" lvl="3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4pPr>
            <a:lvl5pPr marL="2286000" lvl="4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5pPr>
            <a:lvl6pPr marL="2743200" lvl="5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6pPr>
            <a:lvl7pPr marL="3200400" lvl="6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7pPr>
            <a:lvl8pPr marL="3657600" lvl="7" indent="-349250">
              <a:spcBef>
                <a:spcPts val="1000"/>
              </a:spcBef>
              <a:spcAft>
                <a:spcPts val="0"/>
              </a:spcAft>
              <a:buSzPts val="1900"/>
              <a:buChar char="▻"/>
              <a:defRPr/>
            </a:lvl8pPr>
            <a:lvl9pPr marL="4114800" lvl="8" indent="-349250">
              <a:spcBef>
                <a:spcPts val="1000"/>
              </a:spcBef>
              <a:spcAft>
                <a:spcPts val="1000"/>
              </a:spcAft>
              <a:buSzPts val="1900"/>
              <a:buChar char="▻"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5955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298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404" name="Google Shape;404;p33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405" name="Google Shape;405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31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ransition>
    <p:push dir="r"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TqCBg0SHZ0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WwD72X8AC0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7iGvYjKCHpI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ka28BqlWWk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5tZe-ZHOeQ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R76uxGSAwZ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ydfEWt4_B6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5" Type="http://schemas.openxmlformats.org/officeDocument/2006/relationships/hyperlink" Target="https://www.youtube.com/watch?v=qr65FnMs5xk" TargetMode="Externa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B2MM_TIfS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oZHmEivU6gT3eHwXBzYDxQb4JAZQcQFE/vie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iGvYjKCHp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qCBg0SHZ0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ctrTitle"/>
          </p:nvPr>
        </p:nvSpPr>
        <p:spPr>
          <a:xfrm>
            <a:off x="411955" y="334338"/>
            <a:ext cx="360751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1394D"/>
              </a:buClr>
              <a:buSzPts val="1100"/>
              <a:buFont typeface="Arial"/>
              <a:buNone/>
            </a:pPr>
            <a:r>
              <a:rPr lang="en" sz="3900"/>
              <a:t>Prompting</a:t>
            </a:r>
            <a:br>
              <a:rPr lang="en" sz="3900"/>
            </a:br>
            <a:r>
              <a:rPr lang="en" sz="3900"/>
              <a:t>&amp;</a:t>
            </a:r>
            <a:br>
              <a:rPr lang="en" sz="3900"/>
            </a:br>
            <a:r>
              <a:rPr lang="en" sz="3900"/>
              <a:t>Error correction</a:t>
            </a:r>
            <a:endParaRPr sz="1900">
              <a:solidFill>
                <a:schemeClr val="accent5"/>
              </a:solidFill>
            </a:endParaRPr>
          </a:p>
        </p:txBody>
      </p:sp>
      <p:pic>
        <p:nvPicPr>
          <p:cNvPr id="1026" name="Picture 2" descr="Tealway">
            <a:extLst>
              <a:ext uri="{FF2B5EF4-FFF2-40B4-BE49-F238E27FC236}">
                <a16:creationId xmlns:a16="http://schemas.microsoft.com/office/drawing/2014/main" id="{4D9DDF72-72FA-14AA-D64E-9108EFB83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671" y="3935257"/>
            <a:ext cx="2394857" cy="82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92;p1" descr="Free and customizable colorful wallpaper templates">
            <a:extLst>
              <a:ext uri="{FF2B5EF4-FFF2-40B4-BE49-F238E27FC236}">
                <a16:creationId xmlns:a16="http://schemas.microsoft.com/office/drawing/2014/main" id="{A34DC988-AD27-5CA5-84B5-3140A1C640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0808" r="1" b="11240"/>
          <a:stretch/>
        </p:blipFill>
        <p:spPr>
          <a:xfrm>
            <a:off x="4680857" y="-1"/>
            <a:ext cx="4463143" cy="46010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2BD64D-83A3-A786-443A-33ABE1011212}"/>
              </a:ext>
            </a:extLst>
          </p:cNvPr>
          <p:cNvSpPr txBox="1"/>
          <p:nvPr/>
        </p:nvSpPr>
        <p:spPr>
          <a:xfrm>
            <a:off x="486563" y="2884469"/>
            <a:ext cx="4575628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 i="1"/>
              <a:t>Behavior Technician Curriculum</a:t>
            </a:r>
            <a:endParaRPr lang="en-US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4"/>
          <p:cNvSpPr txBox="1">
            <a:spLocks noGrp="1"/>
          </p:cNvSpPr>
          <p:nvPr>
            <p:ph type="ctrTitle"/>
          </p:nvPr>
        </p:nvSpPr>
        <p:spPr>
          <a:xfrm>
            <a:off x="652211" y="117920"/>
            <a:ext cx="2265161" cy="6527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Objectives</a:t>
            </a:r>
            <a:endParaRPr sz="2100" b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91" name="Google Shape;591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4A6D7-FDAA-5CD8-53FC-6EA82621E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28" y="986084"/>
            <a:ext cx="62568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prompting and error correction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use different prompt levels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least-to-most and most-to-least prompting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effective error correction procedures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prompt dependence and promote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procedures</a:t>
            </a:r>
            <a:endParaRPr/>
          </a:p>
        </p:txBody>
      </p:sp>
      <p:sp>
        <p:nvSpPr>
          <p:cNvPr id="597" name="Google Shape;597;p4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598" name="Google Shape;598;p45"/>
          <p:cNvGrpSpPr/>
          <p:nvPr/>
        </p:nvGrpSpPr>
        <p:grpSpPr>
          <a:xfrm>
            <a:off x="354917" y="531317"/>
            <a:ext cx="333016" cy="333016"/>
            <a:chOff x="2594050" y="1631825"/>
            <a:chExt cx="439625" cy="439625"/>
          </a:xfrm>
        </p:grpSpPr>
        <p:sp>
          <p:nvSpPr>
            <p:cNvPr id="599" name="Google Shape;599;p4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5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45"/>
          <p:cNvSpPr txBox="1"/>
          <p:nvPr/>
        </p:nvSpPr>
        <p:spPr>
          <a:xfrm>
            <a:off x="5107369" y="1448869"/>
            <a:ext cx="3447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prompt is a cue or assistance provided to help an individual perform a desired behavior or complete a task. </a:t>
            </a:r>
            <a:endParaRPr lang="en" sz="17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4" name="Google Shape;604;p45"/>
          <p:cNvSpPr/>
          <p:nvPr/>
        </p:nvSpPr>
        <p:spPr>
          <a:xfrm>
            <a:off x="521425" y="1586975"/>
            <a:ext cx="4157100" cy="2858700"/>
          </a:xfrm>
          <a:prstGeom prst="cloudCallout">
            <a:avLst>
              <a:gd name="adj1" fmla="val -20833"/>
              <a:gd name="adj2" fmla="val 62500"/>
            </a:avLst>
          </a:prstGeom>
          <a:noFill/>
          <a:ln w="3810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latin typeface="Roboto Condensed"/>
                <a:ea typeface="Roboto Condensed"/>
                <a:cs typeface="Roboto Condensed"/>
                <a:sym typeface="Roboto Condensed"/>
              </a:rPr>
              <a:t>🗳️ </a:t>
            </a:r>
            <a:r>
              <a:rPr lang="en" sz="1800" b="1">
                <a:latin typeface="Roboto Condensed"/>
                <a:ea typeface="Roboto Condensed"/>
                <a:cs typeface="Roboto Condensed"/>
                <a:sym typeface="Roboto Condensed"/>
              </a:rPr>
              <a:t>Group question:</a:t>
            </a:r>
            <a:r>
              <a:rPr lang="en" sz="180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</a:p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2400">
                <a:latin typeface="Roboto Condensed"/>
                <a:ea typeface="Roboto Condensed"/>
                <a:cs typeface="Roboto Condensed"/>
                <a:sym typeface="Roboto Condensed"/>
              </a:rPr>
              <a:t>“What is a prompt?”</a:t>
            </a: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7812C-9D7B-5468-C2C0-B83699926F8D}"/>
              </a:ext>
            </a:extLst>
          </p:cNvPr>
          <p:cNvSpPr txBox="1"/>
          <p:nvPr/>
        </p:nvSpPr>
        <p:spPr>
          <a:xfrm>
            <a:off x="5232669" y="2765670"/>
            <a:ext cx="312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Goal = </a:t>
            </a:r>
            <a:r>
              <a:rPr lang="en-US" sz="2400">
                <a:solidFill>
                  <a:srgbClr val="92D050"/>
                </a:solidFill>
              </a:rPr>
              <a:t>Independence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6EC455-A426-287A-E945-7D4E1159A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88" y="993074"/>
            <a:ext cx="3044041" cy="3331992"/>
          </a:xfrm>
          <a:prstGeom prst="rect">
            <a:avLst/>
          </a:prstGeom>
        </p:spPr>
      </p:pic>
      <p:sp>
        <p:nvSpPr>
          <p:cNvPr id="609" name="Google Shape;609;p46"/>
          <p:cNvSpPr txBox="1">
            <a:spLocks noGrp="1"/>
          </p:cNvSpPr>
          <p:nvPr>
            <p:ph type="title"/>
          </p:nvPr>
        </p:nvSpPr>
        <p:spPr>
          <a:xfrm>
            <a:off x="786301" y="201150"/>
            <a:ext cx="63025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different prompt types?</a:t>
            </a:r>
            <a:endParaRPr/>
          </a:p>
        </p:txBody>
      </p:sp>
      <p:sp>
        <p:nvSpPr>
          <p:cNvPr id="610" name="Google Shape;610;p46"/>
          <p:cNvSpPr txBox="1">
            <a:spLocks noGrp="1"/>
          </p:cNvSpPr>
          <p:nvPr>
            <p:ph type="sldNum" idx="12"/>
          </p:nvPr>
        </p:nvSpPr>
        <p:spPr>
          <a:xfrm>
            <a:off x="7379725" y="42339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611" name="Google Shape;611;p46"/>
          <p:cNvGrpSpPr/>
          <p:nvPr/>
        </p:nvGrpSpPr>
        <p:grpSpPr>
          <a:xfrm>
            <a:off x="453285" y="417742"/>
            <a:ext cx="333016" cy="333016"/>
            <a:chOff x="2594050" y="1631825"/>
            <a:chExt cx="439625" cy="439625"/>
          </a:xfrm>
        </p:grpSpPr>
        <p:sp>
          <p:nvSpPr>
            <p:cNvPr id="612" name="Google Shape;612;p4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23" name="Google Shape;623;p46"/>
          <p:cNvCxnSpPr>
            <a:cxnSpLocks/>
          </p:cNvCxnSpPr>
          <p:nvPr/>
        </p:nvCxnSpPr>
        <p:spPr>
          <a:xfrm>
            <a:off x="2622229" y="1418948"/>
            <a:ext cx="1392081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4" name="Google Shape;624;p46"/>
          <p:cNvSpPr txBox="1"/>
          <p:nvPr/>
        </p:nvSpPr>
        <p:spPr>
          <a:xfrm>
            <a:off x="4303825" y="1335214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Adjusting the environment to make the correct response more apparent. </a:t>
            </a:r>
            <a:endParaRPr sz="1200">
              <a:solidFill>
                <a:schemeClr val="accent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25" name="Google Shape;625;p46"/>
          <p:cNvCxnSpPr>
            <a:cxnSpLocks/>
          </p:cNvCxnSpPr>
          <p:nvPr/>
        </p:nvCxnSpPr>
        <p:spPr>
          <a:xfrm>
            <a:off x="2818821" y="1920947"/>
            <a:ext cx="1195489" cy="0"/>
          </a:xfrm>
          <a:prstGeom prst="straightConnector1">
            <a:avLst/>
          </a:prstGeom>
          <a:noFill/>
          <a:ln w="9525" cap="flat" cmpd="sng">
            <a:solidFill>
              <a:srgbClr val="7EEAE7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6" name="Google Shape;626;p46"/>
          <p:cNvSpPr txBox="1"/>
          <p:nvPr/>
        </p:nvSpPr>
        <p:spPr>
          <a:xfrm>
            <a:off x="4303825" y="1865895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7EEAE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pictures or icons to guide the individual. </a:t>
            </a:r>
            <a:endParaRPr sz="1200">
              <a:solidFill>
                <a:srgbClr val="7EEAE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27" name="Google Shape;627;p46"/>
          <p:cNvCxnSpPr>
            <a:cxnSpLocks/>
          </p:cNvCxnSpPr>
          <p:nvPr/>
        </p:nvCxnSpPr>
        <p:spPr>
          <a:xfrm>
            <a:off x="2983209" y="2372546"/>
            <a:ext cx="1031101" cy="0"/>
          </a:xfrm>
          <a:prstGeom prst="straightConnector1">
            <a:avLst/>
          </a:prstGeom>
          <a:noFill/>
          <a:ln w="9525" cap="flat" cmpd="sng">
            <a:solidFill>
              <a:srgbClr val="B1F77D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8" name="Google Shape;628;p46"/>
          <p:cNvSpPr txBox="1"/>
          <p:nvPr/>
        </p:nvSpPr>
        <p:spPr>
          <a:xfrm>
            <a:off x="4303825" y="2317568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 b="1">
                <a:solidFill>
                  <a:srgbClr val="B1F7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gestures to guide the individual such as pointing. </a:t>
            </a:r>
            <a:endParaRPr sz="1200" b="1">
              <a:solidFill>
                <a:srgbClr val="B1F77D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29" name="Google Shape;629;p46"/>
          <p:cNvCxnSpPr>
            <a:cxnSpLocks/>
          </p:cNvCxnSpPr>
          <p:nvPr/>
        </p:nvCxnSpPr>
        <p:spPr>
          <a:xfrm>
            <a:off x="3149100" y="2836526"/>
            <a:ext cx="865210" cy="0"/>
          </a:xfrm>
          <a:prstGeom prst="straightConnector1">
            <a:avLst/>
          </a:prstGeom>
          <a:noFill/>
          <a:ln w="9525" cap="flat" cmpd="sng">
            <a:solidFill>
              <a:srgbClr val="F1F16B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30" name="Google Shape;630;p46"/>
          <p:cNvSpPr txBox="1"/>
          <p:nvPr/>
        </p:nvSpPr>
        <p:spPr>
          <a:xfrm>
            <a:off x="4303825" y="3262436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C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spoken words to guide and individual toward the correct response or behavior.</a:t>
            </a:r>
            <a:endParaRPr sz="1200" b="1">
              <a:solidFill>
                <a:srgbClr val="FFC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31" name="Google Shape;631;p46"/>
          <p:cNvCxnSpPr>
            <a:cxnSpLocks/>
          </p:cNvCxnSpPr>
          <p:nvPr/>
        </p:nvCxnSpPr>
        <p:spPr>
          <a:xfrm>
            <a:off x="3421879" y="3418265"/>
            <a:ext cx="592431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32" name="Google Shape;632;p46"/>
          <p:cNvSpPr txBox="1"/>
          <p:nvPr/>
        </p:nvSpPr>
        <p:spPr>
          <a:xfrm>
            <a:off x="4283341" y="2810763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F1F16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Demonstrating the desired behaviors for the person to imitate. </a:t>
            </a:r>
            <a:endParaRPr sz="1200">
              <a:solidFill>
                <a:srgbClr val="F1F16B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33" name="Google Shape;633;p46"/>
          <p:cNvCxnSpPr>
            <a:cxnSpLocks/>
          </p:cNvCxnSpPr>
          <p:nvPr/>
        </p:nvCxnSpPr>
        <p:spPr>
          <a:xfrm>
            <a:off x="3659659" y="3951546"/>
            <a:ext cx="354651" cy="0"/>
          </a:xfrm>
          <a:prstGeom prst="straightConnector1">
            <a:avLst/>
          </a:prstGeom>
          <a:noFill/>
          <a:ln w="9525" cap="flat" cmpd="sng">
            <a:solidFill>
              <a:srgbClr val="E0896E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34" name="Google Shape;634;p46"/>
          <p:cNvSpPr txBox="1"/>
          <p:nvPr/>
        </p:nvSpPr>
        <p:spPr>
          <a:xfrm>
            <a:off x="4303825" y="3946927"/>
            <a:ext cx="38196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 b="1">
                <a:solidFill>
                  <a:srgbClr val="E0896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Physically guiding or assisting the individual to perform the action. </a:t>
            </a:r>
            <a:endParaRPr sz="1200" b="1">
              <a:solidFill>
                <a:srgbClr val="E0896E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" grpId="0"/>
      <p:bldP spid="626" grpId="0"/>
      <p:bldP spid="628" grpId="0"/>
      <p:bldP spid="630" grpId="0"/>
      <p:bldP spid="632" grpId="0"/>
      <p:bldP spid="6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PROMPTING</a:t>
            </a:r>
            <a:endParaRPr/>
          </a:p>
        </p:txBody>
      </p:sp>
      <p:sp>
        <p:nvSpPr>
          <p:cNvPr id="640" name="Google Shape;640;p4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641" name="Google Shape;641;p47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642" name="Google Shape;642;p4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47"/>
          <p:cNvGrpSpPr/>
          <p:nvPr/>
        </p:nvGrpSpPr>
        <p:grpSpPr>
          <a:xfrm>
            <a:off x="4573027" y="1820203"/>
            <a:ext cx="4428717" cy="2063019"/>
            <a:chOff x="962025" y="1051725"/>
            <a:chExt cx="7219950" cy="2968800"/>
          </a:xfrm>
        </p:grpSpPr>
        <p:sp>
          <p:nvSpPr>
            <p:cNvPr id="647" name="Google Shape;647;p47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48" name="Google Shape;648;p47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49" name="Google Shape;649;p47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50" name="Google Shape;650;p47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FADING PROMPTS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Gradually adjust the distance back to its original position. 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51" name="Google Shape;651;p47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 A therapist wants a child to select a specific picture, they might put that picture closer than others to the student to subtly guide their choice.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52" name="Google Shape;652;p47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positional prompt is a technique used to encourage a desired response by strategically placing objects or stimuli closer to the learner.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pic>
        <p:nvPicPr>
          <p:cNvPr id="653" name="Google Shape;653;p47" descr="Fading proximity prompts (demonstration- would not fade this fast and would provide other demands/ reinforcement throughout teaching session)." title="Proximity Prompt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859" y="1734838"/>
            <a:ext cx="4134375" cy="23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PROMPTING</a:t>
            </a:r>
            <a:endParaRPr/>
          </a:p>
        </p:txBody>
      </p:sp>
      <p:sp>
        <p:nvSpPr>
          <p:cNvPr id="659" name="Google Shape;659;p4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660" name="Google Shape;660;p48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661" name="Google Shape;661;p4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5" name="Google Shape;665;p48"/>
          <p:cNvGrpSpPr/>
          <p:nvPr/>
        </p:nvGrpSpPr>
        <p:grpSpPr>
          <a:xfrm>
            <a:off x="4573024" y="1820236"/>
            <a:ext cx="4428717" cy="2571278"/>
            <a:chOff x="962025" y="1051725"/>
            <a:chExt cx="7219950" cy="2968800"/>
          </a:xfrm>
        </p:grpSpPr>
        <p:sp>
          <p:nvSpPr>
            <p:cNvPr id="666" name="Google Shape;666;p48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9" name="Google Shape;669;p48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6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FADING PROMPTS</a:t>
              </a:r>
              <a:endParaRPr sz="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Full Visual Prompts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Simply the visuals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Increase the delay of the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Remove the prompt entirely. 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70" name="Google Shape;670;p48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6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chemeClr val="accent6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student needs to sit down on the carpet. The RBT shows the student a visual icon of a student sitting down.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71" name="Google Shape;671;p48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6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visual prompt is a technique that uses images, symbols, or written instructions to guide a learner towards the correct response. </a:t>
              </a:r>
              <a:endParaRPr sz="13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pic>
        <p:nvPicPr>
          <p:cNvPr id="672" name="Google Shape;672;p48" title="Visual Prompt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200" y="1820200"/>
            <a:ext cx="4266450" cy="239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GESTURAL PROMPTING</a:t>
            </a:r>
            <a:endParaRPr/>
          </a:p>
        </p:txBody>
      </p:sp>
      <p:sp>
        <p:nvSpPr>
          <p:cNvPr id="678" name="Google Shape;678;p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679" name="Google Shape;679;p49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680" name="Google Shape;680;p4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49"/>
          <p:cNvGrpSpPr/>
          <p:nvPr/>
        </p:nvGrpSpPr>
        <p:grpSpPr>
          <a:xfrm>
            <a:off x="4409574" y="1888269"/>
            <a:ext cx="4428717" cy="2187115"/>
            <a:chOff x="962025" y="1051725"/>
            <a:chExt cx="7219950" cy="2968800"/>
          </a:xfrm>
        </p:grpSpPr>
        <p:sp>
          <p:nvSpPr>
            <p:cNvPr id="685" name="Google Shape;685;p49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7" name="Google Shape;687;p49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8" name="Google Shape;688;p49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GESTURE PROMPTS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71450" lvl="0" indent="-190500" algn="l" rtl="0">
                <a:spcBef>
                  <a:spcPts val="0"/>
                </a:spcBef>
                <a:spcAft>
                  <a:spcPts val="0"/>
                </a:spcAft>
                <a:buSzPts val="1200"/>
                <a:buFont typeface="Roboto Condensed"/>
                <a:buChar char="-"/>
              </a:pPr>
              <a:r>
                <a:rPr lang="en" sz="1200">
                  <a:latin typeface="Roboto Condensed"/>
                  <a:ea typeface="Roboto Condensed"/>
                  <a:cs typeface="Roboto Condensed"/>
                  <a:sym typeface="Roboto Condensed"/>
                </a:rPr>
                <a:t>Pointing</a:t>
              </a:r>
              <a:endParaRPr sz="12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71450" lvl="0" indent="-190500" algn="l" rtl="0">
                <a:spcBef>
                  <a:spcPts val="0"/>
                </a:spcBef>
                <a:spcAft>
                  <a:spcPts val="0"/>
                </a:spcAft>
                <a:buSzPts val="1200"/>
                <a:buFont typeface="Roboto Condensed"/>
                <a:buChar char="-"/>
              </a:pPr>
              <a:r>
                <a:rPr lang="en" sz="1200">
                  <a:latin typeface="Roboto Condensed"/>
                  <a:ea typeface="Roboto Condensed"/>
                  <a:cs typeface="Roboto Condensed"/>
                  <a:sym typeface="Roboto Condensed"/>
                </a:rPr>
                <a:t>Nodding or Shaking Head</a:t>
              </a:r>
              <a:endParaRPr sz="12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71450" lvl="0" indent="-190500" algn="l" rtl="0">
                <a:spcBef>
                  <a:spcPts val="0"/>
                </a:spcBef>
                <a:spcAft>
                  <a:spcPts val="0"/>
                </a:spcAft>
                <a:buSzPts val="1200"/>
                <a:buFont typeface="Roboto Condensed"/>
                <a:buChar char="-"/>
              </a:pPr>
              <a:r>
                <a:rPr lang="en" sz="1200">
                  <a:latin typeface="Roboto Condensed"/>
                  <a:ea typeface="Roboto Condensed"/>
                  <a:cs typeface="Roboto Condensed"/>
                  <a:sym typeface="Roboto Condensed"/>
                </a:rPr>
                <a:t>Hand Gestures</a:t>
              </a:r>
              <a:endParaRPr sz="12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71450" lvl="0" indent="-190500" algn="l" rtl="0">
                <a:spcBef>
                  <a:spcPts val="0"/>
                </a:spcBef>
                <a:spcAft>
                  <a:spcPts val="0"/>
                </a:spcAft>
                <a:buSzPts val="1200"/>
                <a:buFont typeface="Roboto Condensed"/>
                <a:buChar char="-"/>
              </a:pPr>
              <a:r>
                <a:rPr lang="en" sz="1200">
                  <a:latin typeface="Roboto Condensed"/>
                  <a:ea typeface="Roboto Condensed"/>
                  <a:cs typeface="Roboto Condensed"/>
                  <a:sym typeface="Roboto Condensed"/>
                </a:rPr>
                <a:t>Facial Expressions</a:t>
              </a:r>
              <a:endParaRPr sz="120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89" name="Google Shape;689;p49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Pointing to the chair to indicate where the student should sit.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90" name="Google Shape;690;p49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gestural prompt is a type of assistance or cue provided through physical movement or non-verbal signs to guide an individual towards the correct response.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pic>
        <p:nvPicPr>
          <p:cNvPr id="691" name="Google Shape;691;p49" title="Gestural Prompt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75" y="1845663"/>
            <a:ext cx="4039675" cy="22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VERBAL PROMPTING</a:t>
            </a:r>
            <a:endParaRPr/>
          </a:p>
        </p:txBody>
      </p:sp>
      <p:sp>
        <p:nvSpPr>
          <p:cNvPr id="697" name="Google Shape;697;p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698" name="Google Shape;698;p50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699" name="Google Shape;699;p5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0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50"/>
          <p:cNvGrpSpPr/>
          <p:nvPr/>
        </p:nvGrpSpPr>
        <p:grpSpPr>
          <a:xfrm>
            <a:off x="4573602" y="2126885"/>
            <a:ext cx="4428717" cy="1974549"/>
            <a:chOff x="962025" y="1051725"/>
            <a:chExt cx="7219950" cy="2968800"/>
          </a:xfrm>
        </p:grpSpPr>
        <p:sp>
          <p:nvSpPr>
            <p:cNvPr id="704" name="Google Shape;704;p50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5" name="Google Shape;705;p50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6" name="Google Shape;706;p50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7" name="Google Shape;707;p50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FADING PROMPTS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Full Verbal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Partial Verbal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Indirect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08" name="Google Shape;708;p50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 Saying, “What do you say?” after someone gives a child a lollipop.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09" name="Google Shape;709;p50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verbal prompt is a type of assistance provided through spoken words to guide and individual toward the correct response or behavior.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pic>
        <p:nvPicPr>
          <p:cNvPr id="710" name="Google Shape;710;p50" title="Verbal Prompt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325" y="1910372"/>
            <a:ext cx="4280125" cy="240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D5291A-CC99-682C-B52C-E4DE63DF23E6}"/>
              </a:ext>
            </a:extLst>
          </p:cNvPr>
          <p:cNvSpPr txBox="1"/>
          <p:nvPr/>
        </p:nvSpPr>
        <p:spPr>
          <a:xfrm>
            <a:off x="1208489" y="942183"/>
            <a:ext cx="302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Full verbal &amp; Partial verbal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PROMPTING</a:t>
            </a:r>
            <a:endParaRPr/>
          </a:p>
        </p:txBody>
      </p:sp>
      <p:sp>
        <p:nvSpPr>
          <p:cNvPr id="716" name="Google Shape;716;p5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717" name="Google Shape;717;p51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718" name="Google Shape;718;p5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22" name="Google Shape;722;p51" title="Model Promp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810" y="2009898"/>
            <a:ext cx="4042075" cy="2273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3" name="Google Shape;723;p51"/>
          <p:cNvGrpSpPr/>
          <p:nvPr/>
        </p:nvGrpSpPr>
        <p:grpSpPr>
          <a:xfrm>
            <a:off x="4573599" y="2009769"/>
            <a:ext cx="4428717" cy="2273804"/>
            <a:chOff x="962025" y="1051725"/>
            <a:chExt cx="7219950" cy="2968800"/>
          </a:xfrm>
        </p:grpSpPr>
        <p:sp>
          <p:nvSpPr>
            <p:cNvPr id="724" name="Google Shape;724;p51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7" name="Google Shape;727;p51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FADING PROMPTS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Model the full task. 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Model part of the task. 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Move towards using verbal and gestural cues. 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8" name="Google Shape;728;p51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If teaching greetings saying “hello” and wave, prompting the student to imitate.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9" name="Google Shape;729;p51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model prompt involves demonstrating the desired behavior or action for an individual to imitate or replicate.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PROMPTING</a:t>
            </a:r>
            <a:endParaRPr/>
          </a:p>
        </p:txBody>
      </p:sp>
      <p:sp>
        <p:nvSpPr>
          <p:cNvPr id="735" name="Google Shape;735;p5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736" name="Google Shape;736;p52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737" name="Google Shape;737;p5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2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41" name="Google Shape;741;p52" title="Physical Guidance/Prompt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350" y="1798412"/>
            <a:ext cx="4267925" cy="240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2" name="Google Shape;742;p52"/>
          <p:cNvGrpSpPr/>
          <p:nvPr/>
        </p:nvGrpSpPr>
        <p:grpSpPr>
          <a:xfrm>
            <a:off x="4573602" y="2011488"/>
            <a:ext cx="4428717" cy="1974549"/>
            <a:chOff x="962025" y="1051725"/>
            <a:chExt cx="7219950" cy="2968800"/>
          </a:xfrm>
        </p:grpSpPr>
        <p:sp>
          <p:nvSpPr>
            <p:cNvPr id="743" name="Google Shape;743;p52"/>
            <p:cNvSpPr/>
            <p:nvPr/>
          </p:nvSpPr>
          <p:spPr>
            <a:xfrm>
              <a:off x="587377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4" name="Google Shape;744;p52"/>
            <p:cNvSpPr/>
            <p:nvPr/>
          </p:nvSpPr>
          <p:spPr>
            <a:xfrm>
              <a:off x="3417900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5" name="Google Shape;745;p52"/>
            <p:cNvSpPr/>
            <p:nvPr/>
          </p:nvSpPr>
          <p:spPr>
            <a:xfrm>
              <a:off x="962025" y="1051725"/>
              <a:ext cx="2308200" cy="2968800"/>
            </a:xfrm>
            <a:prstGeom prst="rect">
              <a:avLst/>
            </a:prstGeom>
            <a:solidFill>
              <a:srgbClr val="F8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6" name="Google Shape;746;p52"/>
            <p:cNvSpPr txBox="1"/>
            <p:nvPr/>
          </p:nvSpPr>
          <p:spPr>
            <a:xfrm>
              <a:off x="596527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FADING PROMPTS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Full Physical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285750" lvl="0" indent="-298450" algn="l" rtl="0">
                <a:spcBef>
                  <a:spcPts val="0"/>
                </a:spcBef>
                <a:spcAft>
                  <a:spcPts val="0"/>
                </a:spcAft>
                <a:buSzPts val="1100"/>
                <a:buFont typeface="Roboto Condensed"/>
                <a:buChar char="-"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Partial Physical Prompt</a:t>
              </a:r>
              <a:endParaRPr sz="110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47" name="Google Shape;747;p52"/>
            <p:cNvSpPr txBox="1"/>
            <p:nvPr/>
          </p:nvSpPr>
          <p:spPr>
            <a:xfrm>
              <a:off x="3509400" y="1175014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EXAMPLE</a:t>
              </a:r>
              <a:r>
                <a:rPr lang="en" sz="1500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</a:t>
              </a:r>
              <a:endParaRPr sz="800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teacher might use hand over hand assistance to help a student write their name.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48" name="Google Shape;748;p52"/>
            <p:cNvSpPr txBox="1"/>
            <p:nvPr/>
          </p:nvSpPr>
          <p:spPr>
            <a:xfrm>
              <a:off x="1053525" y="1175015"/>
              <a:ext cx="2125200" cy="27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D26F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DEFINITION</a:t>
              </a:r>
              <a:endParaRPr sz="800" b="1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 Condensed"/>
                  <a:ea typeface="Roboto Condensed"/>
                  <a:cs typeface="Roboto Condensed"/>
                  <a:sym typeface="Roboto Condensed"/>
                </a:rPr>
                <a:t>A physical prompt involves physically guiding a learner to complete an action. </a:t>
              </a:r>
              <a:endParaRPr sz="1800">
                <a:solidFill>
                  <a:srgbClr val="F6451C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D5B33D-08AD-A4E2-8A23-BFF1C03A08EB}"/>
              </a:ext>
            </a:extLst>
          </p:cNvPr>
          <p:cNvSpPr txBox="1"/>
          <p:nvPr/>
        </p:nvSpPr>
        <p:spPr>
          <a:xfrm>
            <a:off x="1208489" y="942183"/>
            <a:ext cx="3020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Full physical &amp; Partial physical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PROMPT Could YOU USE?</a:t>
            </a:r>
            <a:endParaRPr/>
          </a:p>
        </p:txBody>
      </p:sp>
      <p:sp>
        <p:nvSpPr>
          <p:cNvPr id="754" name="Google Shape;754;p5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763" name="Google Shape;763;p53"/>
          <p:cNvSpPr/>
          <p:nvPr/>
        </p:nvSpPr>
        <p:spPr>
          <a:xfrm>
            <a:off x="376957" y="1266347"/>
            <a:ext cx="2523000" cy="39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omic Sans MS"/>
                <a:ea typeface="Comic Sans MS"/>
                <a:cs typeface="Comic Sans MS"/>
                <a:sym typeface="Comic Sans MS"/>
              </a:rPr>
              <a:t>Instruction “get your pencil”</a:t>
            </a:r>
            <a:endParaRPr sz="12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69" name="Google Shape;76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57" y="1825542"/>
            <a:ext cx="2523000" cy="16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0113" y="1825541"/>
            <a:ext cx="1804382" cy="2088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5806" y="1726442"/>
            <a:ext cx="1899313" cy="21872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63;p53">
            <a:extLst>
              <a:ext uri="{FF2B5EF4-FFF2-40B4-BE49-F238E27FC236}">
                <a16:creationId xmlns:a16="http://schemas.microsoft.com/office/drawing/2014/main" id="{EEB9CDED-6A59-FC48-E4E7-2E80DC85F627}"/>
              </a:ext>
            </a:extLst>
          </p:cNvPr>
          <p:cNvSpPr/>
          <p:nvPr/>
        </p:nvSpPr>
        <p:spPr>
          <a:xfrm>
            <a:off x="3380804" y="1292808"/>
            <a:ext cx="2523000" cy="39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omic Sans MS"/>
                <a:ea typeface="Comic Sans MS"/>
                <a:cs typeface="Comic Sans MS"/>
                <a:sym typeface="Comic Sans MS"/>
              </a:rPr>
              <a:t>Demand – button your coat</a:t>
            </a:r>
            <a:endParaRPr sz="12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" name="Google Shape;763;p53">
            <a:extLst>
              <a:ext uri="{FF2B5EF4-FFF2-40B4-BE49-F238E27FC236}">
                <a16:creationId xmlns:a16="http://schemas.microsoft.com/office/drawing/2014/main" id="{44F75064-1E39-D42E-D994-75F2868D50E8}"/>
              </a:ext>
            </a:extLst>
          </p:cNvPr>
          <p:cNvSpPr/>
          <p:nvPr/>
        </p:nvSpPr>
        <p:spPr>
          <a:xfrm>
            <a:off x="6253962" y="1158563"/>
            <a:ext cx="2523000" cy="39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omic Sans MS"/>
                <a:ea typeface="Comic Sans MS"/>
                <a:cs typeface="Comic Sans MS"/>
                <a:sym typeface="Comic Sans MS"/>
              </a:rPr>
              <a:t>Instruction – “say Apple”</a:t>
            </a:r>
            <a:endParaRPr sz="12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" name="Graphic 4" descr="Germ with solid fill">
            <a:extLst>
              <a:ext uri="{FF2B5EF4-FFF2-40B4-BE49-F238E27FC236}">
                <a16:creationId xmlns:a16="http://schemas.microsoft.com/office/drawing/2014/main" id="{9FF062DE-6BA0-3F57-BEA4-D9E9D5F4E1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217" y="53167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>
          <a:extLst>
            <a:ext uri="{FF2B5EF4-FFF2-40B4-BE49-F238E27FC236}">
              <a16:creationId xmlns:a16="http://schemas.microsoft.com/office/drawing/2014/main" id="{38B938C8-3D76-D327-FC0F-2539E1A2B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3">
            <a:extLst>
              <a:ext uri="{FF2B5EF4-FFF2-40B4-BE49-F238E27FC236}">
                <a16:creationId xmlns:a16="http://schemas.microsoft.com/office/drawing/2014/main" id="{76794E01-7497-0273-F348-938030EE1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852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practice! </a:t>
            </a:r>
            <a:endParaRPr/>
          </a:p>
        </p:txBody>
      </p:sp>
      <p:sp>
        <p:nvSpPr>
          <p:cNvPr id="754" name="Google Shape;754;p53">
            <a:extLst>
              <a:ext uri="{FF2B5EF4-FFF2-40B4-BE49-F238E27FC236}">
                <a16:creationId xmlns:a16="http://schemas.microsoft.com/office/drawing/2014/main" id="{D830737B-9315-C5F0-C41B-9B516B5C0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65" name="Google Shape;765;p53">
            <a:extLst>
              <a:ext uri="{FF2B5EF4-FFF2-40B4-BE49-F238E27FC236}">
                <a16:creationId xmlns:a16="http://schemas.microsoft.com/office/drawing/2014/main" id="{B62ECBE6-B1BC-F800-95AE-D593097E4D52}"/>
              </a:ext>
            </a:extLst>
          </p:cNvPr>
          <p:cNvSpPr/>
          <p:nvPr/>
        </p:nvSpPr>
        <p:spPr>
          <a:xfrm>
            <a:off x="4366435" y="429029"/>
            <a:ext cx="3379039" cy="39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mic Sans MS"/>
                <a:ea typeface="Comic Sans MS"/>
                <a:cs typeface="Comic Sans MS"/>
                <a:sym typeface="Comic Sans MS"/>
              </a:rPr>
              <a:t>Instruction – “find shoe”</a:t>
            </a:r>
            <a:endParaRPr sz="19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" name="Graphic 5" descr="Germ with solid fill">
            <a:extLst>
              <a:ext uri="{FF2B5EF4-FFF2-40B4-BE49-F238E27FC236}">
                <a16:creationId xmlns:a16="http://schemas.microsoft.com/office/drawing/2014/main" id="{9CAF76F5-7506-BDB1-516E-F2ECCE892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217" y="531670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FDAECD-1C9E-225F-EED4-7CD4601B2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092" y="988870"/>
            <a:ext cx="3457723" cy="34408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CAA9DB-9921-A595-B4C8-BF96453B2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466039" y="2970524"/>
            <a:ext cx="434430" cy="329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CECECC-8EE5-1648-CEE4-797C42AC4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612248">
            <a:off x="6080150" y="2944687"/>
            <a:ext cx="372260" cy="3287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380E2B-06AB-E20A-6633-03A2BF9E8FB1}"/>
              </a:ext>
            </a:extLst>
          </p:cNvPr>
          <p:cNvSpPr txBox="1"/>
          <p:nvPr/>
        </p:nvSpPr>
        <p:spPr>
          <a:xfrm>
            <a:off x="337217" y="1475117"/>
            <a:ext cx="33462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/>
              <a:t>What does a </a:t>
            </a:r>
            <a:r>
              <a:rPr lang="en-US" sz="1800">
                <a:solidFill>
                  <a:schemeClr val="accent3"/>
                </a:solidFill>
              </a:rPr>
              <a:t>Gestural</a:t>
            </a:r>
            <a:r>
              <a:rPr lang="en-US" sz="1800"/>
              <a:t> prompt look like?</a:t>
            </a:r>
          </a:p>
          <a:p>
            <a:endParaRPr lang="en-US" sz="1800"/>
          </a:p>
          <a:p>
            <a:r>
              <a:rPr lang="en-US" sz="1800"/>
              <a:t>What about </a:t>
            </a:r>
            <a:r>
              <a:rPr lang="en-US" sz="1800">
                <a:solidFill>
                  <a:schemeClr val="accent3"/>
                </a:solidFill>
              </a:rPr>
              <a:t>Visual</a:t>
            </a:r>
            <a:r>
              <a:rPr lang="en-US" sz="1800">
                <a:solidFill>
                  <a:schemeClr val="tx1"/>
                </a:solidFill>
              </a:rPr>
              <a:t>?</a:t>
            </a:r>
          </a:p>
          <a:p>
            <a:endParaRPr lang="en-US" sz="1800">
              <a:solidFill>
                <a:srgbClr val="FF0000"/>
              </a:solidFill>
            </a:endParaRPr>
          </a:p>
          <a:p>
            <a:r>
              <a:rPr lang="en-US" sz="1800">
                <a:solidFill>
                  <a:schemeClr val="tx1"/>
                </a:solidFill>
              </a:rPr>
              <a:t>Can you think of one more prompt?</a:t>
            </a:r>
          </a:p>
        </p:txBody>
      </p:sp>
    </p:spTree>
    <p:extLst>
      <p:ext uri="{BB962C8B-B14F-4D97-AF65-F5344CB8AC3E}">
        <p14:creationId xmlns:p14="http://schemas.microsoft.com/office/powerpoint/2010/main" val="117260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2646406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AB26DBC-1F7F-4AC0-A88C-69712701E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099884-7695-4976-8EBD-ECB5AF053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A11A1-F5F1-C7B9-0C91-05D21CEC7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107" y="1101348"/>
            <a:ext cx="2144126" cy="1404914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2500"/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4D35C-E861-5BE0-D5B5-836F95D98775}"/>
              </a:ext>
            </a:extLst>
          </p:cNvPr>
          <p:cNvSpPr txBox="1"/>
          <p:nvPr/>
        </p:nvSpPr>
        <p:spPr>
          <a:xfrm>
            <a:off x="6503555" y="2646870"/>
            <a:ext cx="2136225" cy="1210152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12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Next: How do I choose the prompt?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2F6B6B9-C579-41A6-A7D1-A7AB4AA6D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4177" y="361628"/>
            <a:ext cx="5670087" cy="3861826"/>
            <a:chOff x="632237" y="482171"/>
            <a:chExt cx="7560115" cy="514910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C0B55B5-5A26-423B-ACDC-B151A280A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AD2DF8D-6B65-43EB-86A8-9DB52572A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74163961-0280-48BA-BC84-97E03B00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1540" y="732824"/>
            <a:ext cx="4949104" cy="31021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DD902E-11B5-CDB0-189A-D3D939CB6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819" y="837258"/>
            <a:ext cx="2863383" cy="2899629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FAC20BB-5902-4D8F-9A2A-E4B516EF3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0720" y="2644872"/>
            <a:ext cx="21333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C7852F8-6371-4D0E-ADF1-AD67B8FD8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0356817-A471-4572-AE96-579F6D6BF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54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200E-4B6C-8301-3940-B6AA219143D0}"/>
              </a:ext>
            </a:extLst>
          </p:cNvPr>
          <p:cNvSpPr txBox="1">
            <a:spLocks/>
          </p:cNvSpPr>
          <p:nvPr/>
        </p:nvSpPr>
        <p:spPr>
          <a:xfrm>
            <a:off x="1102540" y="418968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000"/>
              <a:t>How do I know which prompt to start with?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ABBC-B261-81E0-F807-CBB94747FFB5}"/>
              </a:ext>
            </a:extLst>
          </p:cNvPr>
          <p:cNvSpPr txBox="1">
            <a:spLocks/>
          </p:cNvSpPr>
          <p:nvPr/>
        </p:nvSpPr>
        <p:spPr>
          <a:xfrm>
            <a:off x="970772" y="1205894"/>
            <a:ext cx="7202456" cy="258796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3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When deciding on the prompt to start with, we have 2 different strategies we rely 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* </a:t>
            </a:r>
            <a:r>
              <a:rPr lang="en-US" sz="1800" i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reminder that the goal is always fading prompts to get to independence*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6AC5A0-D4DA-3FA1-4412-F79EA3119DBC}"/>
              </a:ext>
            </a:extLst>
          </p:cNvPr>
          <p:cNvSpPr/>
          <p:nvPr/>
        </p:nvSpPr>
        <p:spPr>
          <a:xfrm>
            <a:off x="1635496" y="2246863"/>
            <a:ext cx="2293257" cy="50602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Least – to – Most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983C3E-BE2D-A514-7A4A-6EDB6B18AA75}"/>
              </a:ext>
            </a:extLst>
          </p:cNvPr>
          <p:cNvSpPr/>
          <p:nvPr/>
        </p:nvSpPr>
        <p:spPr>
          <a:xfrm>
            <a:off x="4703768" y="2246863"/>
            <a:ext cx="2293257" cy="5060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Most – to – Least </a:t>
            </a:r>
          </a:p>
        </p:txBody>
      </p:sp>
      <p:pic>
        <p:nvPicPr>
          <p:cNvPr id="6" name="Graphic 5" descr="Badge 1 with solid fill">
            <a:extLst>
              <a:ext uri="{FF2B5EF4-FFF2-40B4-BE49-F238E27FC236}">
                <a16:creationId xmlns:a16="http://schemas.microsoft.com/office/drawing/2014/main" id="{F3A8CA3D-7E9E-CBC9-FBD5-D9EE608C0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6624" y="1917725"/>
            <a:ext cx="457200" cy="457200"/>
          </a:xfrm>
          <a:prstGeom prst="rect">
            <a:avLst/>
          </a:prstGeom>
        </p:spPr>
      </p:pic>
      <p:pic>
        <p:nvPicPr>
          <p:cNvPr id="7" name="Graphic 6" descr="Badge with solid fill">
            <a:extLst>
              <a:ext uri="{FF2B5EF4-FFF2-40B4-BE49-F238E27FC236}">
                <a16:creationId xmlns:a16="http://schemas.microsoft.com/office/drawing/2014/main" id="{E73AFA00-79BF-D699-B6B6-B46AC5F01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1795" y="1917725"/>
            <a:ext cx="457201" cy="45720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80A7EE-807C-A9C9-F304-42A8BE088337}"/>
              </a:ext>
            </a:extLst>
          </p:cNvPr>
          <p:cNvCxnSpPr/>
          <p:nvPr/>
        </p:nvCxnSpPr>
        <p:spPr>
          <a:xfrm>
            <a:off x="1026190" y="865909"/>
            <a:ext cx="6489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66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68C2-F44C-6D83-19D3-C1DCC264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7155-5D19-6AD3-BBA3-82208BF7BE75}"/>
              </a:ext>
            </a:extLst>
          </p:cNvPr>
          <p:cNvSpPr txBox="1">
            <a:spLocks/>
          </p:cNvSpPr>
          <p:nvPr/>
        </p:nvSpPr>
        <p:spPr>
          <a:xfrm>
            <a:off x="1102540" y="418968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endParaRPr lang="en-US" sz="20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38C1E3-B095-876C-2F24-C124192965D8}"/>
              </a:ext>
            </a:extLst>
          </p:cNvPr>
          <p:cNvSpPr/>
          <p:nvPr/>
        </p:nvSpPr>
        <p:spPr>
          <a:xfrm>
            <a:off x="956623" y="313824"/>
            <a:ext cx="2293257" cy="50602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Least – to – Most </a:t>
            </a:r>
          </a:p>
        </p:txBody>
      </p:sp>
      <p:pic>
        <p:nvPicPr>
          <p:cNvPr id="6" name="Graphic 5" descr="Badge 1 with solid fill">
            <a:extLst>
              <a:ext uri="{FF2B5EF4-FFF2-40B4-BE49-F238E27FC236}">
                <a16:creationId xmlns:a16="http://schemas.microsoft.com/office/drawing/2014/main" id="{0068861C-210C-4D95-FC94-0CACB2508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48" y="74917"/>
            <a:ext cx="457200" cy="4572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C664A6-47BE-CB76-D756-AD1DADEB8902}"/>
              </a:ext>
            </a:extLst>
          </p:cNvPr>
          <p:cNvCxnSpPr/>
          <p:nvPr/>
        </p:nvCxnSpPr>
        <p:spPr>
          <a:xfrm>
            <a:off x="783735" y="1032164"/>
            <a:ext cx="6489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0CF532-F3C8-15C2-E60F-7BE591066B92}"/>
              </a:ext>
            </a:extLst>
          </p:cNvPr>
          <p:cNvSpPr txBox="1">
            <a:spLocks/>
          </p:cNvSpPr>
          <p:nvPr/>
        </p:nvSpPr>
        <p:spPr>
          <a:xfrm>
            <a:off x="783735" y="1319892"/>
            <a:ext cx="3126284" cy="2586446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3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 with the LEAST intrusive</a:t>
            </a:r>
          </a:p>
          <a:p>
            <a:endParaRPr lang="en-US"/>
          </a:p>
          <a:p>
            <a:r>
              <a:rPr lang="en-US"/>
              <a:t>This gives the child a chance to perform the skill on their own</a:t>
            </a:r>
          </a:p>
          <a:p>
            <a:endParaRPr lang="en-US"/>
          </a:p>
          <a:p>
            <a:r>
              <a:rPr lang="en-US"/>
              <a:t>This is where we start with </a:t>
            </a:r>
            <a:r>
              <a:rPr lang="en-US" i="1" u="sng"/>
              <a:t>most </a:t>
            </a:r>
            <a:r>
              <a:rPr lang="en-US"/>
              <a:t>clients!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CA9BC-9A27-7430-680B-1A2548CF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833" y="1311038"/>
            <a:ext cx="2548168" cy="278921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5AB1EF8D-AD9E-F254-2960-E8CC43447881}"/>
              </a:ext>
            </a:extLst>
          </p:cNvPr>
          <p:cNvSpPr/>
          <p:nvPr/>
        </p:nvSpPr>
        <p:spPr>
          <a:xfrm rot="1636419">
            <a:off x="5284610" y="1725129"/>
            <a:ext cx="129881" cy="20733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95B49F96-2160-9446-ED07-F241E5C45761}"/>
              </a:ext>
            </a:extLst>
          </p:cNvPr>
          <p:cNvSpPr/>
          <p:nvPr/>
        </p:nvSpPr>
        <p:spPr>
          <a:xfrm>
            <a:off x="6004560" y="1404738"/>
            <a:ext cx="290677" cy="30120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CD811B-C9EB-D60F-60B7-5F236FFC1690}"/>
              </a:ext>
            </a:extLst>
          </p:cNvPr>
          <p:cNvSpPr txBox="1"/>
          <p:nvPr/>
        </p:nvSpPr>
        <p:spPr>
          <a:xfrm>
            <a:off x="5671916" y="1480536"/>
            <a:ext cx="477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Start here</a:t>
            </a:r>
          </a:p>
        </p:txBody>
      </p:sp>
    </p:spTree>
    <p:extLst>
      <p:ext uri="{BB962C8B-B14F-4D97-AF65-F5344CB8AC3E}">
        <p14:creationId xmlns:p14="http://schemas.microsoft.com/office/powerpoint/2010/main" val="227953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 TO MOST PROMPTING</a:t>
            </a:r>
            <a:endParaRPr/>
          </a:p>
        </p:txBody>
      </p:sp>
      <p:sp>
        <p:nvSpPr>
          <p:cNvPr id="836" name="Google Shape;836;p58"/>
          <p:cNvSpPr txBox="1">
            <a:spLocks noGrp="1"/>
          </p:cNvSpPr>
          <p:nvPr>
            <p:ph type="body" idx="1"/>
          </p:nvPr>
        </p:nvSpPr>
        <p:spPr>
          <a:xfrm>
            <a:off x="6246627" y="1433422"/>
            <a:ext cx="2591100" cy="16774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/>
              <a:t>**Reminder**</a:t>
            </a:r>
          </a:p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Start with the LEAST intrusive prompt, and increase prompting only if needed</a:t>
            </a:r>
            <a:endParaRPr/>
          </a:p>
        </p:txBody>
      </p:sp>
      <p:sp>
        <p:nvSpPr>
          <p:cNvPr id="837" name="Google Shape;837;p5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838" name="Google Shape;838;p58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839" name="Google Shape;839;p58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8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8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8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8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987D2B5-D08E-2BDE-ADC1-D11843452553}"/>
              </a:ext>
            </a:extLst>
          </p:cNvPr>
          <p:cNvSpPr txBox="1"/>
          <p:nvPr/>
        </p:nvSpPr>
        <p:spPr>
          <a:xfrm>
            <a:off x="694459" y="1529439"/>
            <a:ext cx="4589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Verbal - least-to-most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61B94-11CB-5BE9-4FF7-2797F19F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03" y="1888789"/>
            <a:ext cx="1718608" cy="2021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56102-9657-6E2A-29D2-F6AA3020CBFB}"/>
              </a:ext>
            </a:extLst>
          </p:cNvPr>
          <p:cNvSpPr txBox="1"/>
          <p:nvPr/>
        </p:nvSpPr>
        <p:spPr>
          <a:xfrm>
            <a:off x="3560475" y="1555225"/>
            <a:ext cx="21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5"/>
              </a:rPr>
              <a:t>Hand Washing example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BCB9CE-279B-BBEF-A0C7-FBE4BD594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2260" y="2028459"/>
            <a:ext cx="1859480" cy="15482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571B83-6DC7-FF09-1C51-1D31FCE39AB7}"/>
              </a:ext>
            </a:extLst>
          </p:cNvPr>
          <p:cNvSpPr txBox="1"/>
          <p:nvPr/>
        </p:nvSpPr>
        <p:spPr>
          <a:xfrm>
            <a:off x="4110748" y="1782238"/>
            <a:ext cx="12553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Start at 1:10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CBBE-B8F0-D098-951D-E668A5B7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0AFC-FDEA-7385-E6E3-4E18B43256FC}"/>
              </a:ext>
            </a:extLst>
          </p:cNvPr>
          <p:cNvSpPr txBox="1">
            <a:spLocks/>
          </p:cNvSpPr>
          <p:nvPr/>
        </p:nvSpPr>
        <p:spPr>
          <a:xfrm>
            <a:off x="1102540" y="418968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endParaRPr lang="en-US" sz="20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3BF81F-F1AC-80A7-386A-8098D9B47BCD}"/>
              </a:ext>
            </a:extLst>
          </p:cNvPr>
          <p:cNvSpPr/>
          <p:nvPr/>
        </p:nvSpPr>
        <p:spPr>
          <a:xfrm>
            <a:off x="839004" y="359998"/>
            <a:ext cx="2293257" cy="50602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Most – to – Least </a:t>
            </a:r>
          </a:p>
        </p:txBody>
      </p:sp>
      <p:pic>
        <p:nvPicPr>
          <p:cNvPr id="7" name="Graphic 6" descr="Badge with solid fill">
            <a:extLst>
              <a:ext uri="{FF2B5EF4-FFF2-40B4-BE49-F238E27FC236}">
                <a16:creationId xmlns:a16="http://schemas.microsoft.com/office/drawing/2014/main" id="{948FD045-546B-1246-7F06-BDDBB7811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134" y="72271"/>
            <a:ext cx="457201" cy="45720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58A601-4467-0116-99F0-BC5BB04D24CE}"/>
              </a:ext>
            </a:extLst>
          </p:cNvPr>
          <p:cNvCxnSpPr/>
          <p:nvPr/>
        </p:nvCxnSpPr>
        <p:spPr>
          <a:xfrm>
            <a:off x="783735" y="1032164"/>
            <a:ext cx="6489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F8318A6-FA2C-288C-5954-47C730D9E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760" y="1264864"/>
            <a:ext cx="2548168" cy="278921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93C355-FB12-EEFA-E4A7-ACD5D4D431E4}"/>
              </a:ext>
            </a:extLst>
          </p:cNvPr>
          <p:cNvSpPr txBox="1">
            <a:spLocks/>
          </p:cNvSpPr>
          <p:nvPr/>
        </p:nvSpPr>
        <p:spPr>
          <a:xfrm>
            <a:off x="839004" y="1278527"/>
            <a:ext cx="3126284" cy="258644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3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Start with the MOST intrusive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If client responds appropriately, immediately move to the next prompt down</a:t>
            </a:r>
          </a:p>
          <a:p>
            <a:endParaRPr lang="en-US"/>
          </a:p>
          <a:p>
            <a:r>
              <a:rPr lang="en-US"/>
              <a:t>This is typically used for specific programs, or a specific type of learner!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4B8A5-CD19-BEF7-48FA-82E01BB05ED4}"/>
              </a:ext>
            </a:extLst>
          </p:cNvPr>
          <p:cNvSpPr txBox="1"/>
          <p:nvPr/>
        </p:nvSpPr>
        <p:spPr>
          <a:xfrm>
            <a:off x="7709787" y="3695696"/>
            <a:ext cx="477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Start here</a:t>
            </a:r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A0FEAED0-0726-AB09-1143-34ED22F7C4C2}"/>
              </a:ext>
            </a:extLst>
          </p:cNvPr>
          <p:cNvSpPr/>
          <p:nvPr/>
        </p:nvSpPr>
        <p:spPr>
          <a:xfrm>
            <a:off x="7481589" y="3695696"/>
            <a:ext cx="290677" cy="30120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F6501BD-332A-8F03-FB5B-02C9C59854CE}"/>
              </a:ext>
            </a:extLst>
          </p:cNvPr>
          <p:cNvSpPr/>
          <p:nvPr/>
        </p:nvSpPr>
        <p:spPr>
          <a:xfrm rot="9206859">
            <a:off x="7203683" y="1450023"/>
            <a:ext cx="161967" cy="22950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9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TO LEAST PROMPTING</a:t>
            </a:r>
            <a:endParaRPr/>
          </a:p>
        </p:txBody>
      </p:sp>
      <p:sp>
        <p:nvSpPr>
          <p:cNvPr id="822" name="Google Shape;822;p57"/>
          <p:cNvSpPr txBox="1">
            <a:spLocks noGrp="1"/>
          </p:cNvSpPr>
          <p:nvPr>
            <p:ph type="body" idx="1"/>
          </p:nvPr>
        </p:nvSpPr>
        <p:spPr>
          <a:xfrm>
            <a:off x="6306675" y="1644250"/>
            <a:ext cx="2591100" cy="25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Most-To-Least Prompting: A strategy that involves starting with the most intrusive prompt and gradually reducing it as the learner becomes more proficient. </a:t>
            </a:r>
            <a:endParaRPr/>
          </a:p>
        </p:txBody>
      </p:sp>
      <p:sp>
        <p:nvSpPr>
          <p:cNvPr id="823" name="Google Shape;823;p5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824" name="Google Shape;824;p57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825" name="Google Shape;825;p57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7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7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7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7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0" name="Google Shape;830;p57" title="Prompt Fading – Most-to-Leas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554" y="1520400"/>
            <a:ext cx="5539734" cy="31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BCF3-707A-F227-0D54-9DF22D7D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7335-A950-C098-36A3-07E41AF7BB0E}"/>
              </a:ext>
            </a:extLst>
          </p:cNvPr>
          <p:cNvSpPr txBox="1">
            <a:spLocks/>
          </p:cNvSpPr>
          <p:nvPr/>
        </p:nvSpPr>
        <p:spPr>
          <a:xfrm>
            <a:off x="1102540" y="418968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endParaRPr lang="en-US" sz="20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34A373-DB11-03B4-DAC1-471B1B1F0443}"/>
              </a:ext>
            </a:extLst>
          </p:cNvPr>
          <p:cNvCxnSpPr/>
          <p:nvPr/>
        </p:nvCxnSpPr>
        <p:spPr>
          <a:xfrm>
            <a:off x="783735" y="1032164"/>
            <a:ext cx="6489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A9A955D-AE4E-069C-59FC-4C73C1D24837}"/>
              </a:ext>
            </a:extLst>
          </p:cNvPr>
          <p:cNvSpPr txBox="1">
            <a:spLocks/>
          </p:cNvSpPr>
          <p:nvPr/>
        </p:nvSpPr>
        <p:spPr>
          <a:xfrm>
            <a:off x="783735" y="571368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000"/>
              <a:t>Common prompting errors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2E4DE47-9B64-529B-2906-AF1A70233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226713"/>
              </p:ext>
            </p:extLst>
          </p:nvPr>
        </p:nvGraphicFramePr>
        <p:xfrm>
          <a:off x="839004" y="1278527"/>
          <a:ext cx="6573178" cy="2586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953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C30E0A3B-3E6F-0FDC-7DE9-13C51582056D}"/>
              </a:ext>
            </a:extLst>
          </p:cNvPr>
          <p:cNvSpPr/>
          <p:nvPr/>
        </p:nvSpPr>
        <p:spPr>
          <a:xfrm>
            <a:off x="298827" y="363549"/>
            <a:ext cx="2036618" cy="1759527"/>
          </a:xfrm>
          <a:prstGeom prst="cloudCallout">
            <a:avLst>
              <a:gd name="adj1" fmla="val -53826"/>
              <a:gd name="adj2" fmla="val 680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C96CA-CD03-65CE-038A-0E9911F61A61}"/>
              </a:ext>
            </a:extLst>
          </p:cNvPr>
          <p:cNvSpPr txBox="1">
            <a:spLocks/>
          </p:cNvSpPr>
          <p:nvPr/>
        </p:nvSpPr>
        <p:spPr>
          <a:xfrm>
            <a:off x="624408" y="363549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1AFDB-F377-7403-2960-D3223353671E}"/>
              </a:ext>
            </a:extLst>
          </p:cNvPr>
          <p:cNvSpPr txBox="1"/>
          <p:nvPr/>
        </p:nvSpPr>
        <p:spPr>
          <a:xfrm>
            <a:off x="3671454" y="232014"/>
            <a:ext cx="353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6"/>
                </a:solidFill>
              </a:rPr>
              <a:t>Error Correction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A617B-0F1B-9643-E4D8-F919B87C5596}"/>
              </a:ext>
            </a:extLst>
          </p:cNvPr>
          <p:cNvSpPr txBox="1"/>
          <p:nvPr/>
        </p:nvSpPr>
        <p:spPr>
          <a:xfrm>
            <a:off x="3269673" y="1150475"/>
            <a:ext cx="393468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n-lt"/>
              </a:rPr>
              <a:t>1. Interrupt error</a:t>
            </a:r>
          </a:p>
          <a:p>
            <a:pPr marL="457200" indent="-457200">
              <a:buAutoNum type="arabicPeriod"/>
            </a:pPr>
            <a:endParaRPr lang="en-US" sz="2400">
              <a:latin typeface="+mn-lt"/>
            </a:endParaRPr>
          </a:p>
          <a:p>
            <a:r>
              <a:rPr lang="en-US" sz="2400">
                <a:latin typeface="+mn-lt"/>
              </a:rPr>
              <a:t>2. Prompt correct response</a:t>
            </a:r>
          </a:p>
          <a:p>
            <a:endParaRPr lang="en-US" sz="2400">
              <a:latin typeface="+mn-lt"/>
            </a:endParaRPr>
          </a:p>
          <a:p>
            <a:r>
              <a:rPr lang="en-US" sz="2400">
                <a:latin typeface="+mn-lt"/>
              </a:rPr>
              <a:t>3. Reinforce (less)</a:t>
            </a:r>
          </a:p>
          <a:p>
            <a:endParaRPr lang="en-US" sz="2400">
              <a:latin typeface="+mn-lt"/>
            </a:endParaRPr>
          </a:p>
          <a:p>
            <a:r>
              <a:rPr lang="en-US" sz="2400">
                <a:latin typeface="+mn-lt"/>
              </a:rPr>
              <a:t>4. Re-present SD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89E55-AE31-1AFB-772A-6F8ED0002A31}"/>
              </a:ext>
            </a:extLst>
          </p:cNvPr>
          <p:cNvSpPr txBox="1"/>
          <p:nvPr/>
        </p:nvSpPr>
        <p:spPr>
          <a:xfrm rot="20926393">
            <a:off x="722245" y="568757"/>
            <a:ext cx="16737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Ok, I know the prompts…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How do I use them?</a:t>
            </a:r>
          </a:p>
        </p:txBody>
      </p:sp>
    </p:spTree>
    <p:extLst>
      <p:ext uri="{BB962C8B-B14F-4D97-AF65-F5344CB8AC3E}">
        <p14:creationId xmlns:p14="http://schemas.microsoft.com/office/powerpoint/2010/main" val="353963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0D4E-391E-B583-4CED-13497A4D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7355-ED1A-27B5-6EE6-B2E90212BD4B}"/>
              </a:ext>
            </a:extLst>
          </p:cNvPr>
          <p:cNvSpPr txBox="1">
            <a:spLocks/>
          </p:cNvSpPr>
          <p:nvPr/>
        </p:nvSpPr>
        <p:spPr>
          <a:xfrm>
            <a:off x="624408" y="363549"/>
            <a:ext cx="7202456" cy="786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9FAE0-1BC8-5330-08B6-B34393EA6207}"/>
              </a:ext>
            </a:extLst>
          </p:cNvPr>
          <p:cNvSpPr txBox="1"/>
          <p:nvPr/>
        </p:nvSpPr>
        <p:spPr>
          <a:xfrm>
            <a:off x="3671454" y="232014"/>
            <a:ext cx="353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6"/>
                </a:solidFill>
              </a:rPr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270AA-E2D8-E504-EDF2-19D8CAEFC3C2}"/>
              </a:ext>
            </a:extLst>
          </p:cNvPr>
          <p:cNvSpPr txBox="1"/>
          <p:nvPr/>
        </p:nvSpPr>
        <p:spPr>
          <a:xfrm>
            <a:off x="3671454" y="1009063"/>
            <a:ext cx="51737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n-lt"/>
              </a:rPr>
              <a:t>Instruction: Touch dog</a:t>
            </a:r>
          </a:p>
          <a:p>
            <a:r>
              <a:rPr lang="en-US" sz="2000">
                <a:latin typeface="+mn-lt"/>
              </a:rPr>
              <a:t>Incorrect </a:t>
            </a:r>
          </a:p>
          <a:p>
            <a:endParaRPr lang="en-US" sz="2000">
              <a:latin typeface="+mn-lt"/>
            </a:endParaRPr>
          </a:p>
          <a:p>
            <a:r>
              <a:rPr lang="en-US" sz="2000">
                <a:latin typeface="+mn-lt"/>
              </a:rPr>
              <a:t>Restate instruction “touch dog”</a:t>
            </a:r>
          </a:p>
          <a:p>
            <a:r>
              <a:rPr lang="en-US" sz="2000">
                <a:latin typeface="+mn-lt"/>
              </a:rPr>
              <a:t>Prompt correct</a:t>
            </a:r>
          </a:p>
          <a:p>
            <a:r>
              <a:rPr lang="en-US" sz="2000">
                <a:latin typeface="+mn-lt"/>
              </a:rPr>
              <a:t>Reinforce</a:t>
            </a:r>
          </a:p>
          <a:p>
            <a:endParaRPr lang="en-US" sz="2000">
              <a:latin typeface="+mn-lt"/>
            </a:endParaRPr>
          </a:p>
          <a:p>
            <a:r>
              <a:rPr lang="en-US" sz="2000">
                <a:latin typeface="+mn-lt"/>
              </a:rPr>
              <a:t>Re-test for independence</a:t>
            </a:r>
          </a:p>
        </p:txBody>
      </p:sp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90363979-34D1-C91C-A949-384A68868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682" y="1087315"/>
            <a:ext cx="298168" cy="298168"/>
          </a:xfrm>
          <a:prstGeom prst="rect">
            <a:avLst/>
          </a:prstGeom>
        </p:spPr>
      </p:pic>
      <p:pic>
        <p:nvPicPr>
          <p:cNvPr id="12" name="Graphic 11" descr="Badge outline">
            <a:extLst>
              <a:ext uri="{FF2B5EF4-FFF2-40B4-BE49-F238E27FC236}">
                <a16:creationId xmlns:a16="http://schemas.microsoft.com/office/drawing/2014/main" id="{85AF43B6-3123-95E9-D0AA-7024624A3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6000" y="1959419"/>
            <a:ext cx="327314" cy="327314"/>
          </a:xfrm>
          <a:prstGeom prst="rect">
            <a:avLst/>
          </a:prstGeom>
        </p:spPr>
      </p:pic>
      <p:pic>
        <p:nvPicPr>
          <p:cNvPr id="14" name="Graphic 13" descr="Badge 3 outline">
            <a:extLst>
              <a:ext uri="{FF2B5EF4-FFF2-40B4-BE49-F238E27FC236}">
                <a16:creationId xmlns:a16="http://schemas.microsoft.com/office/drawing/2014/main" id="{EA2271E6-320E-1DBB-954A-393246CD2A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9464" y="3158837"/>
            <a:ext cx="320386" cy="3203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8F7DE7-51D7-F7CD-7F87-89E23A853E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452" y="3131354"/>
            <a:ext cx="85725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2E0D2D-03BD-3A45-8F65-90E851526B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5996" y="1805392"/>
            <a:ext cx="764165" cy="961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BEB974-51B4-E54A-6823-5132C02C33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584" y="593061"/>
            <a:ext cx="1394987" cy="9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82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87FE3A-F04C-01F2-A520-FFCD7F926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98" y="588455"/>
            <a:ext cx="2152436" cy="315600"/>
          </a:xfrm>
        </p:spPr>
        <p:txBody>
          <a:bodyPr/>
          <a:lstStyle/>
          <a:p>
            <a:r>
              <a:rPr lang="en-US" sz="2400"/>
              <a:t>What do we remember?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C9320-85F4-0304-D863-8359DDE30A6F}"/>
              </a:ext>
            </a:extLst>
          </p:cNvPr>
          <p:cNvSpPr txBox="1"/>
          <p:nvPr/>
        </p:nvSpPr>
        <p:spPr>
          <a:xfrm>
            <a:off x="64291" y="1995051"/>
            <a:ext cx="1404291" cy="95410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strategically placing objects or stimuli closer to the learner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F956C-B358-4569-C4FA-16F66AE5DCD3}"/>
              </a:ext>
            </a:extLst>
          </p:cNvPr>
          <p:cNvSpPr txBox="1"/>
          <p:nvPr/>
        </p:nvSpPr>
        <p:spPr>
          <a:xfrm>
            <a:off x="1594790" y="1995051"/>
            <a:ext cx="1404291" cy="181588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uses images, symbols, or written instructions to guide a learner towards the correct response.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89901-17CE-895A-181F-72EA7A0F91EC}"/>
              </a:ext>
            </a:extLst>
          </p:cNvPr>
          <p:cNvSpPr txBox="1"/>
          <p:nvPr/>
        </p:nvSpPr>
        <p:spPr>
          <a:xfrm>
            <a:off x="3125289" y="1995051"/>
            <a:ext cx="1404291" cy="20313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cue provided through physical movement or non-verbal signs to guide an individual towards the correct response.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0ADE2-8A2E-9331-DF3B-032952E91C7A}"/>
              </a:ext>
            </a:extLst>
          </p:cNvPr>
          <p:cNvSpPr txBox="1"/>
          <p:nvPr/>
        </p:nvSpPr>
        <p:spPr>
          <a:xfrm>
            <a:off x="4655788" y="1995051"/>
            <a:ext cx="1404291" cy="16004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assistance provided through spoken words to guide and individual toward the correct response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E594A-94F9-6DCC-F0CA-8D0CC7B0186A}"/>
              </a:ext>
            </a:extLst>
          </p:cNvPr>
          <p:cNvSpPr txBox="1"/>
          <p:nvPr/>
        </p:nvSpPr>
        <p:spPr>
          <a:xfrm>
            <a:off x="6186287" y="1995051"/>
            <a:ext cx="1404291" cy="16004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demonstrating the desired behavior or action for an individual to imitate or replicate.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8ED4F-28E6-B9FB-69C1-683D672B7D97}"/>
              </a:ext>
            </a:extLst>
          </p:cNvPr>
          <p:cNvSpPr txBox="1"/>
          <p:nvPr/>
        </p:nvSpPr>
        <p:spPr>
          <a:xfrm>
            <a:off x="7716786" y="1995050"/>
            <a:ext cx="1362923" cy="95410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physically guiding a learner to complete an action.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A55F2-FB6E-1569-28A4-2B5A2ED72A06}"/>
              </a:ext>
            </a:extLst>
          </p:cNvPr>
          <p:cNvSpPr txBox="1"/>
          <p:nvPr/>
        </p:nvSpPr>
        <p:spPr>
          <a:xfrm>
            <a:off x="2876117" y="327329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accent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Positional</a:t>
            </a:r>
            <a:endParaRPr lang="en-US" sz="2000">
              <a:solidFill>
                <a:schemeClr val="accent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8E4B1-1D15-4D4F-703A-FEDA255A32AF}"/>
              </a:ext>
            </a:extLst>
          </p:cNvPr>
          <p:cNvSpPr txBox="1"/>
          <p:nvPr/>
        </p:nvSpPr>
        <p:spPr>
          <a:xfrm>
            <a:off x="1878925" y="3826321"/>
            <a:ext cx="836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tx2">
                    <a:lumMod val="60000"/>
                    <a:lumOff val="40000"/>
                  </a:scheme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Visual</a:t>
            </a:r>
            <a:endParaRPr lang="en-US" sz="2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8B831-1F4C-3E33-6C13-BA7738C21DAA}"/>
              </a:ext>
            </a:extLst>
          </p:cNvPr>
          <p:cNvSpPr txBox="1"/>
          <p:nvPr/>
        </p:nvSpPr>
        <p:spPr>
          <a:xfrm>
            <a:off x="2876117" y="674372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92D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Gestural</a:t>
            </a:r>
            <a:endParaRPr lang="en-US" sz="2000">
              <a:solidFill>
                <a:srgbClr val="92D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DA4F9-971C-66D3-2B75-E8C4F457DF2F}"/>
              </a:ext>
            </a:extLst>
          </p:cNvPr>
          <p:cNvSpPr txBox="1"/>
          <p:nvPr/>
        </p:nvSpPr>
        <p:spPr>
          <a:xfrm>
            <a:off x="5176425" y="704000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00B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Verbal</a:t>
            </a:r>
            <a:endParaRPr lang="en-US" sz="200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A3E9F-6046-02C8-9F68-2BFE8DAAADB5}"/>
              </a:ext>
            </a:extLst>
          </p:cNvPr>
          <p:cNvSpPr txBox="1"/>
          <p:nvPr/>
        </p:nvSpPr>
        <p:spPr>
          <a:xfrm>
            <a:off x="4026272" y="333518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FFC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Modeling</a:t>
            </a:r>
            <a:endParaRPr lang="en-US" sz="2000">
              <a:solidFill>
                <a:srgbClr val="FFC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E3C25-3DDD-5810-28E7-C3AF468590AF}"/>
              </a:ext>
            </a:extLst>
          </p:cNvPr>
          <p:cNvSpPr txBox="1"/>
          <p:nvPr/>
        </p:nvSpPr>
        <p:spPr>
          <a:xfrm>
            <a:off x="4026271" y="711085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</a:t>
            </a:r>
            <a:endParaRPr lang="en-US" sz="200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D0D8CA-E93E-DE0E-9D2B-41806454AF9E}"/>
              </a:ext>
            </a:extLst>
          </p:cNvPr>
          <p:cNvSpPr txBox="1"/>
          <p:nvPr/>
        </p:nvSpPr>
        <p:spPr>
          <a:xfrm>
            <a:off x="93089" y="2949157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accent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Positional</a:t>
            </a:r>
            <a:endParaRPr lang="en-US" sz="2000">
              <a:solidFill>
                <a:schemeClr val="accent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35F24-65CF-03AD-F87E-E5DE4525EB7C}"/>
              </a:ext>
            </a:extLst>
          </p:cNvPr>
          <p:cNvSpPr txBox="1"/>
          <p:nvPr/>
        </p:nvSpPr>
        <p:spPr>
          <a:xfrm>
            <a:off x="5207488" y="370231"/>
            <a:ext cx="836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tx2">
                    <a:lumMod val="60000"/>
                    <a:lumOff val="40000"/>
                  </a:scheme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Visual</a:t>
            </a:r>
            <a:endParaRPr lang="en-US" sz="20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35301E-C493-C5EB-7FAF-1206E562C940}"/>
              </a:ext>
            </a:extLst>
          </p:cNvPr>
          <p:cNvSpPr txBox="1"/>
          <p:nvPr/>
        </p:nvSpPr>
        <p:spPr>
          <a:xfrm>
            <a:off x="3270549" y="4014043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92D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Gestural</a:t>
            </a:r>
            <a:endParaRPr lang="en-US" sz="2000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04A8A5-DFDD-DCC2-E42D-A06581A8E28B}"/>
              </a:ext>
            </a:extLst>
          </p:cNvPr>
          <p:cNvSpPr txBox="1"/>
          <p:nvPr/>
        </p:nvSpPr>
        <p:spPr>
          <a:xfrm>
            <a:off x="4927256" y="3595489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00B0F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Verbal</a:t>
            </a:r>
            <a:endParaRPr lang="en-US" sz="200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306EC3-03C2-ACC5-0C30-84980D101E9C}"/>
              </a:ext>
            </a:extLst>
          </p:cNvPr>
          <p:cNvSpPr txBox="1"/>
          <p:nvPr/>
        </p:nvSpPr>
        <p:spPr>
          <a:xfrm>
            <a:off x="6361979" y="3595489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rgbClr val="FFC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Modeling</a:t>
            </a:r>
            <a:endParaRPr lang="en-US" sz="2000">
              <a:solidFill>
                <a:srgbClr val="FFC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18185B-153A-A07C-7263-528C50B0280D}"/>
              </a:ext>
            </a:extLst>
          </p:cNvPr>
          <p:cNvSpPr txBox="1"/>
          <p:nvPr/>
        </p:nvSpPr>
        <p:spPr>
          <a:xfrm>
            <a:off x="7884969" y="2949157"/>
            <a:ext cx="1259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Physical</a:t>
            </a:r>
            <a:endParaRPr lang="en-US" sz="20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39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90D89-E7CA-0BD8-919F-D92B3A85C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04"/>
          <a:stretch>
            <a:fillRect/>
          </a:stretch>
        </p:blipFill>
        <p:spPr>
          <a:xfrm>
            <a:off x="1439745" y="643605"/>
            <a:ext cx="6264510" cy="1660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F626-FA0F-0A2F-C56C-B3B6738E905C}"/>
              </a:ext>
            </a:extLst>
          </p:cNvPr>
          <p:cNvSpPr txBox="1"/>
          <p:nvPr/>
        </p:nvSpPr>
        <p:spPr>
          <a:xfrm>
            <a:off x="2329543" y="2677886"/>
            <a:ext cx="444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>
                <a:latin typeface="+mn-lt"/>
              </a:rPr>
              <a:t>Grab a partner &amp; two items</a:t>
            </a:r>
          </a:p>
          <a:p>
            <a:r>
              <a:rPr lang="en-US">
                <a:latin typeface="+mn-lt"/>
              </a:rPr>
              <a:t>- Run the steps of error correction then switch</a:t>
            </a:r>
          </a:p>
        </p:txBody>
      </p:sp>
    </p:spTree>
    <p:extLst>
      <p:ext uri="{BB962C8B-B14F-4D97-AF65-F5344CB8AC3E}">
        <p14:creationId xmlns:p14="http://schemas.microsoft.com/office/powerpoint/2010/main" val="187420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98267-B302-F94D-9686-0B0AC03C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71166-62BE-3D52-3378-790EF3633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7BF1-6AD7-F92D-22FB-D2F584CD7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035D1-87C2-E519-443C-EA97FEDC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04"/>
          <a:stretch>
            <a:fillRect/>
          </a:stretch>
        </p:blipFill>
        <p:spPr>
          <a:xfrm>
            <a:off x="1439745" y="643605"/>
            <a:ext cx="6264510" cy="1660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AE77E-0F9D-6F4C-357F-42A3431B0A1C}"/>
              </a:ext>
            </a:extLst>
          </p:cNvPr>
          <p:cNvSpPr txBox="1"/>
          <p:nvPr/>
        </p:nvSpPr>
        <p:spPr>
          <a:xfrm>
            <a:off x="2329543" y="2677886"/>
            <a:ext cx="44486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>
                <a:latin typeface="+mn-lt"/>
              </a:rPr>
              <a:t>Grab a partner &amp; two items</a:t>
            </a:r>
          </a:p>
          <a:p>
            <a:r>
              <a:rPr lang="en-US">
                <a:latin typeface="+mn-lt"/>
              </a:rPr>
              <a:t>- Give instruction to “find ____”</a:t>
            </a:r>
          </a:p>
          <a:p>
            <a:r>
              <a:rPr lang="en-US">
                <a:latin typeface="+mn-lt"/>
              </a:rPr>
              <a:t>- Use LTM or MTS prompting</a:t>
            </a:r>
          </a:p>
        </p:txBody>
      </p:sp>
    </p:spTree>
    <p:extLst>
      <p:ext uri="{BB962C8B-B14F-4D97-AF65-F5344CB8AC3E}">
        <p14:creationId xmlns:p14="http://schemas.microsoft.com/office/powerpoint/2010/main" val="657348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ectangle 784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84" name="Picture 783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7" name="Google Shape;777;p54"/>
          <p:cNvSpPr txBox="1">
            <a:spLocks noGrp="1"/>
          </p:cNvSpPr>
          <p:nvPr>
            <p:ph type="sldNum" idx="12"/>
          </p:nvPr>
        </p:nvSpPr>
        <p:spPr>
          <a:xfrm>
            <a:off x="8430318" y="4775650"/>
            <a:ext cx="608264" cy="37768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indent="0" defTabSz="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500" kern="1200">
                <a:latin typeface="+mn-lt"/>
                <a:ea typeface="+mn-ea"/>
                <a:cs typeface="+mn-cs"/>
              </a:rPr>
              <a:pPr lv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25</a:t>
            </a:fld>
            <a:endParaRPr lang="en-US" sz="1500" kern="1200">
              <a:latin typeface="+mn-lt"/>
              <a:ea typeface="+mn-ea"/>
              <a:cs typeface="+mn-cs"/>
            </a:endParaRPr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07DE5115-89C8-4B9C-B0E8-78A15C20C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4A6402E2-72CC-4683-9B83-11265402E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3DA09-31EE-FCEE-1A09-3D60E946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508" y="610862"/>
            <a:ext cx="5285509" cy="3361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A2FDE3-9E66-3FC1-B706-41F6B532B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31" y="218488"/>
            <a:ext cx="657404" cy="657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CED5A8-A93B-E7CC-C142-2B002DFF87C7}"/>
              </a:ext>
            </a:extLst>
          </p:cNvPr>
          <p:cNvSpPr txBox="1"/>
          <p:nvPr/>
        </p:nvSpPr>
        <p:spPr>
          <a:xfrm>
            <a:off x="146588" y="892163"/>
            <a:ext cx="849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Take a picture!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Shape 775">
          <a:extLst>
            <a:ext uri="{FF2B5EF4-FFF2-40B4-BE49-F238E27FC236}">
              <a16:creationId xmlns:a16="http://schemas.microsoft.com/office/drawing/2014/main" id="{351252C1-13EB-81C5-FA6A-3896F62A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ectangle 784">
            <a:extLst>
              <a:ext uri="{FF2B5EF4-FFF2-40B4-BE49-F238E27FC236}">
                <a16:creationId xmlns:a16="http://schemas.microsoft.com/office/drawing/2014/main" id="{9325B81C-0C2A-D854-7210-701731377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84" name="Picture 783">
            <a:extLst>
              <a:ext uri="{FF2B5EF4-FFF2-40B4-BE49-F238E27FC236}">
                <a16:creationId xmlns:a16="http://schemas.microsoft.com/office/drawing/2014/main" id="{4BBEC4F3-81F4-FB06-DE41-3B9FF30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67B7B088-6A14-BD98-AEF0-2C795DCF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7" name="Google Shape;777;p54">
            <a:extLst>
              <a:ext uri="{FF2B5EF4-FFF2-40B4-BE49-F238E27FC236}">
                <a16:creationId xmlns:a16="http://schemas.microsoft.com/office/drawing/2014/main" id="{8B523043-015A-9B59-0192-06F7469F43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30318" y="4775650"/>
            <a:ext cx="608264" cy="37768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indent="0" defTabSz="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1500" kern="1200">
                <a:latin typeface="+mn-lt"/>
                <a:ea typeface="+mn-ea"/>
                <a:cs typeface="+mn-cs"/>
              </a:rPr>
              <a:pPr lv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26</a:t>
            </a:fld>
            <a:endParaRPr lang="en-US" sz="1500" kern="1200">
              <a:latin typeface="+mn-lt"/>
              <a:ea typeface="+mn-ea"/>
              <a:cs typeface="+mn-cs"/>
            </a:endParaRPr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48AB4749-DCD7-A076-CDF3-3BC2273E1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D41173DF-1AD2-3B9D-3968-0CAFAE440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72686-7112-7561-0443-5ABD6CAC6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31" y="218488"/>
            <a:ext cx="657404" cy="657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83606D-229B-9515-9A46-AB5AA97206E0}"/>
              </a:ext>
            </a:extLst>
          </p:cNvPr>
          <p:cNvSpPr txBox="1"/>
          <p:nvPr/>
        </p:nvSpPr>
        <p:spPr>
          <a:xfrm>
            <a:off x="146588" y="892163"/>
            <a:ext cx="849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Take a picture!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3DD32-2289-C8C1-78E3-121B09F64A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80" b="3178"/>
          <a:stretch>
            <a:fillRect/>
          </a:stretch>
        </p:blipFill>
        <p:spPr>
          <a:xfrm>
            <a:off x="2780576" y="621116"/>
            <a:ext cx="3695487" cy="336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12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75">
          <a:extLst>
            <a:ext uri="{FF2B5EF4-FFF2-40B4-BE49-F238E27FC236}">
              <a16:creationId xmlns:a16="http://schemas.microsoft.com/office/drawing/2014/main" id="{3E45C50C-3E7B-9313-7E75-7792A2C1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5" name="Rectangle 804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E2C05-F0C5-0F38-5B7F-1E605BFB4E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7542" r="-2" b="35923"/>
          <a:stretch>
            <a:fillRect/>
          </a:stretch>
        </p:blipFill>
        <p:spPr>
          <a:xfrm>
            <a:off x="20" y="10"/>
            <a:ext cx="9143751" cy="514349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608F13C-6459-02BA-E3B6-19C48E0F9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2477" y="744165"/>
            <a:ext cx="4685481" cy="36551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600"/>
              <a:t>Questions?</a:t>
            </a:r>
          </a:p>
        </p:txBody>
      </p:sp>
      <p:sp>
        <p:nvSpPr>
          <p:cNvPr id="777" name="Google Shape;777;p54">
            <a:extLst>
              <a:ext uri="{FF2B5EF4-FFF2-40B4-BE49-F238E27FC236}">
                <a16:creationId xmlns:a16="http://schemas.microsoft.com/office/drawing/2014/main" id="{23C789A4-2F05-78D7-9E21-38E38D89C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6225" y="4839485"/>
            <a:ext cx="608265" cy="37768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lvl="0" indent="0" defTabSz="45720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lvl="0" indent="0" defTabSz="457200">
                <a:spcBef>
                  <a:spcPts val="0"/>
                </a:spcBef>
                <a:spcAft>
                  <a:spcPts val="600"/>
                </a:spcAft>
                <a:buNone/>
              </a:pPr>
              <a:t>27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200150"/>
            <a:ext cx="0" cy="27432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66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1202" name="Google Shape;1202;p63"/>
          <p:cNvSpPr txBox="1">
            <a:spLocks noGrp="1"/>
          </p:cNvSpPr>
          <p:nvPr>
            <p:ph type="title" idx="4294967295"/>
          </p:nvPr>
        </p:nvSpPr>
        <p:spPr>
          <a:xfrm>
            <a:off x="0" y="39688"/>
            <a:ext cx="5257800" cy="7667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30">
                <a:solidFill>
                  <a:srgbClr val="FB8C00"/>
                </a:solidFill>
              </a:rPr>
              <a:t>ABA </a:t>
            </a:r>
            <a:r>
              <a:rPr lang="en" sz="3930" b="1">
                <a:solidFill>
                  <a:srgbClr val="FB8C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SCRAMBLE</a:t>
            </a:r>
            <a:endParaRPr sz="3930" b="1">
              <a:solidFill>
                <a:srgbClr val="FB8C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203" name="Google Shape;1203;p63" title="C9 Prompting (Revised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288" y="805900"/>
            <a:ext cx="7169424" cy="40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1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496" name="Google Shape;2496;p122"/>
          <p:cNvSpPr txBox="1">
            <a:spLocks noGrp="1"/>
          </p:cNvSpPr>
          <p:nvPr>
            <p:ph type="body" idx="1"/>
          </p:nvPr>
        </p:nvSpPr>
        <p:spPr>
          <a:xfrm>
            <a:off x="305675" y="1586250"/>
            <a:ext cx="70989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Clinic. (2016, May 26).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DTT - Maintenance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https://www.youtube.com/watch?v=Ic6B2qXAbHc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(2020, September 9).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 Prompts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https://www.youtube.com/watch?v=WwD72X8AC0E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Fading Prompts - Autism Therapy Video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https://www.youtube.com/watch?v=IwaqAkwbd_w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 Fading – Most-to-Least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Retrieved March 20, 2023, from https://www.youtube.com/watch?v=dB2MM_TIfSA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Gestural Prompting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</a:t>
            </a:r>
            <a:r>
              <a:rPr lang="en" sz="1350" u="sng">
                <a:solidFill>
                  <a:srgbClr val="2200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https://www.youtube.com/watch?v=7iGvYjKCHpI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Guidance/Prompting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https://www.youtube.com/watch?v=R76uxGSAwZw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1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grpSp>
        <p:nvGrpSpPr>
          <p:cNvPr id="2498" name="Google Shape;2498;p122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2499" name="Google Shape;2499;p12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2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2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22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508" name="Google Shape;2508;p123"/>
          <p:cNvSpPr txBox="1">
            <a:spLocks noGrp="1"/>
          </p:cNvSpPr>
          <p:nvPr>
            <p:ph type="body" idx="1"/>
          </p:nvPr>
        </p:nvSpPr>
        <p:spPr>
          <a:xfrm>
            <a:off x="357802" y="1565563"/>
            <a:ext cx="7098900" cy="17460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Autism Learning Partnership.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Verbal Prompts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https://www.youtube.com/watch?v=ka28BqlWWkE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Cooper, J. O., Heron, T. E., &amp; Heward, W. L. (2007). Applied behavior analysis (2nd ed.). Pearson.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Keri Strejlau. (2019, October 9).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Proximity Prompting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YouTube. </a:t>
            </a:r>
            <a:r>
              <a:rPr lang="en" sz="1350" u="sng">
                <a:solidFill>
                  <a:srgbClr val="2200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https://www.youtube.com/watch?v=TqCBg0SHZ08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Megan DeBoom. (2019, May 13). 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Prompt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YouTube. https://www.youtube.com/watch?v=5tZe-ZHOeQ4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lang="en" sz="135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Prompting least to most</a:t>
            </a:r>
            <a:r>
              <a:rPr lang="en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(n.d.). Www.youtube.com. Retrieved December 2, 2025, from https://www.youtube.com/shorts/S9zx1d6DhOM</a:t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1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grpSp>
        <p:nvGrpSpPr>
          <p:cNvPr id="2510" name="Google Shape;2510;p123"/>
          <p:cNvGrpSpPr/>
          <p:nvPr/>
        </p:nvGrpSpPr>
        <p:grpSpPr>
          <a:xfrm>
            <a:off x="305686" y="609167"/>
            <a:ext cx="333016" cy="333016"/>
            <a:chOff x="2594050" y="1631825"/>
            <a:chExt cx="439625" cy="439625"/>
          </a:xfrm>
        </p:grpSpPr>
        <p:sp>
          <p:nvSpPr>
            <p:cNvPr id="2511" name="Google Shape;2511;p12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2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2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23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06770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20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Salerio template</vt:lpstr>
      <vt:lpstr>Gallery</vt:lpstr>
      <vt:lpstr>Prompting &amp; Error correction</vt:lpstr>
      <vt:lpstr>Objectives</vt:lpstr>
      <vt:lpstr>Prompting procedures</vt:lpstr>
      <vt:lpstr>What are the different prompt types?</vt:lpstr>
      <vt:lpstr>POSITIONAL PROMPTING</vt:lpstr>
      <vt:lpstr>VISUAL PROMPTING</vt:lpstr>
      <vt:lpstr>GESTURAL PROMPTING</vt:lpstr>
      <vt:lpstr>VERBAL PROMPTING</vt:lpstr>
      <vt:lpstr>MODELING PROMPTING</vt:lpstr>
      <vt:lpstr>PHYSICAL PROMPTING</vt:lpstr>
      <vt:lpstr>WHAT PROMPT Could YOU USE?</vt:lpstr>
      <vt:lpstr>Let’s practice! </vt:lpstr>
      <vt:lpstr>Questions?</vt:lpstr>
      <vt:lpstr>PowerPoint Presentation</vt:lpstr>
      <vt:lpstr>PowerPoint Presentation</vt:lpstr>
      <vt:lpstr>LEAST TO MOST PROMPTING</vt:lpstr>
      <vt:lpstr>PowerPoint Presentation</vt:lpstr>
      <vt:lpstr>MOST TO LEAST PROMPTING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ABA SCRAMBLE</vt:lpstr>
      <vt:lpstr>RESOURCES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 Rork</dc:creator>
  <cp:revision>1</cp:revision>
  <dcterms:modified xsi:type="dcterms:W3CDTF">2026-03-20T12:51:59Z</dcterms:modified>
</cp:coreProperties>
</file>