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AZfxd8i1MN2DPMr6FtlJjzGRj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some tasks you could start with?</a:t>
            </a:r>
            <a:endParaRPr/>
          </a:p>
        </p:txBody>
      </p:sp>
      <p:sp>
        <p:nvSpPr>
          <p:cNvPr id="145" name="Google Shape;14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Misuse – can lead to escape/avoidance if you are immediately going back to pairing when things get hard</a:t>
            </a:r>
            <a:endParaRPr/>
          </a:p>
        </p:txBody>
      </p:sp>
      <p:sp>
        <p:nvSpPr>
          <p:cNvPr id="174" name="Google Shape;17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Misuse – can lead to escape/avoidance if you are immediately going back to pairing when things get hard</a:t>
            </a:r>
            <a:endParaRPr/>
          </a:p>
        </p:txBody>
      </p:sp>
      <p:sp>
        <p:nvSpPr>
          <p:cNvPr id="200" name="Google Shape;20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9fOJyXTAm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Pairing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BT Curriculum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890338" y="4409267"/>
            <a:ext cx="3474720" cy="18288"/>
          </a:xfrm>
          <a:custGeom>
            <a:avLst/>
            <a:gdLst/>
            <a:ahLst/>
            <a:cxnLst/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descr="Free and customizable colorful wallpaper templates"/>
          <p:cNvPicPr preferRelativeResize="0"/>
          <p:nvPr/>
        </p:nvPicPr>
        <p:blipFill rotWithShape="1">
          <a:blip r:embed="rId3">
            <a:alphaModFix/>
          </a:blip>
          <a:srcRect t="26744" r="-1" b="1717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 extrusionOk="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What is pairing?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where everything starts!</a:t>
            </a:r>
            <a:endParaRPr/>
          </a:p>
          <a:p>
            <a:pPr marL="285750" marR="0" lvl="0" indent="-88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are aiming to become a conditioned reinforcer</a:t>
            </a:r>
            <a:endParaRPr/>
          </a:p>
          <a:p>
            <a:pPr marL="285750" marR="0" lvl="0" indent="-88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Pairing is about making your presence a source of joy for your client, and your presence should be a catalyst for encouraging desired behaviors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4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Why is pairing so important?</a:t>
            </a:r>
            <a:endParaRPr sz="4800" dirty="0"/>
          </a:p>
        </p:txBody>
      </p:sp>
      <p:sp>
        <p:nvSpPr>
          <p:cNvPr id="107" name="Google Shape;107;p3"/>
          <p:cNvSpPr/>
          <p:nvPr/>
        </p:nvSpPr>
        <p:spPr>
          <a:xfrm rot="5400000">
            <a:off x="2543983" y="3258715"/>
            <a:ext cx="4480560" cy="18288"/>
          </a:xfrm>
          <a:custGeom>
            <a:avLst/>
            <a:gdLst/>
            <a:ahLst/>
            <a:cxnLst/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Again, you become a conditioned reinforcer</a:t>
            </a:r>
            <a:endParaRPr/>
          </a:p>
          <a:p>
            <a:pPr marL="285750" marR="0" lvl="0" indent="-88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learner finds your attention and/or engagement reinforcing, there will be an increase in cooperation</a:t>
            </a:r>
            <a:endParaRPr/>
          </a:p>
          <a:p>
            <a:pPr marL="285750" marR="0" lvl="0" indent="-88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cooperation = more fun for you too!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are some benefits of pairing?</a:t>
            </a:r>
            <a:endParaRPr/>
          </a:p>
        </p:txBody>
      </p:sp>
      <p:grpSp>
        <p:nvGrpSpPr>
          <p:cNvPr id="114" name="Google Shape;114;p4"/>
          <p:cNvGrpSpPr/>
          <p:nvPr/>
        </p:nvGrpSpPr>
        <p:grpSpPr>
          <a:xfrm>
            <a:off x="1011912" y="1693455"/>
            <a:ext cx="9759466" cy="3964782"/>
            <a:chOff x="173712" y="2767"/>
            <a:chExt cx="9759466" cy="3964782"/>
          </a:xfrm>
        </p:grpSpPr>
        <p:sp>
          <p:nvSpPr>
            <p:cNvPr id="115" name="Google Shape;115;p4"/>
            <p:cNvSpPr/>
            <p:nvPr/>
          </p:nvSpPr>
          <p:spPr>
            <a:xfrm>
              <a:off x="173712" y="2767"/>
              <a:ext cx="3049833" cy="1829899"/>
            </a:xfrm>
            <a:prstGeom prst="rect">
              <a:avLst/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173712" y="2767"/>
              <a:ext cx="3049833" cy="1829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Building rapport</a:t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3528528" y="2767"/>
              <a:ext cx="3049833" cy="1829899"/>
            </a:xfrm>
            <a:prstGeom prst="rect">
              <a:avLst/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3528528" y="2767"/>
              <a:ext cx="3049833" cy="1829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Increased motivation</a:t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883345" y="2767"/>
              <a:ext cx="3049833" cy="1829899"/>
            </a:xfrm>
            <a:prstGeom prst="rect">
              <a:avLst/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6883345" y="2767"/>
              <a:ext cx="3049833" cy="1829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Increased collaboration</a:t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1851120" y="2137650"/>
              <a:ext cx="3049833" cy="1829899"/>
            </a:xfrm>
            <a:prstGeom prst="rect">
              <a:avLst/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1851120" y="2137650"/>
              <a:ext cx="3049833" cy="1829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Improved skill acquisition</a:t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205937" y="2137650"/>
              <a:ext cx="3049833" cy="1829899"/>
            </a:xfrm>
            <a:prstGeom prst="rect">
              <a:avLst/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5205937" y="2137650"/>
              <a:ext cx="3049833" cy="1829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37150" rIns="137150" bIns="13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Reduced problem behavior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How do we pair?</a:t>
            </a:r>
            <a:endParaRPr sz="5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1" name="Google Shape;131;p5"/>
          <p:cNvSpPr/>
          <p:nvPr/>
        </p:nvSpPr>
        <p:spPr>
          <a:xfrm rot="5400000">
            <a:off x="2543983" y="3258715"/>
            <a:ext cx="4480560" cy="18288"/>
          </a:xfrm>
          <a:custGeom>
            <a:avLst/>
            <a:gdLst/>
            <a:ahLst/>
            <a:cxnLst/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5203362" y="713232"/>
            <a:ext cx="6224335" cy="543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 the child’s lead</a:t>
            </a:r>
            <a:endParaRPr/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preference assessments</a:t>
            </a:r>
            <a:endParaRPr/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 &amp; quality time</a:t>
            </a:r>
            <a:endParaRPr/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Asking caregivers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5126418" y="1306677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AutoNum type="arabicPeriod"/>
            </a:pPr>
            <a:r>
              <a:rPr lang="en-US" sz="3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Identify Reinforcers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How do we pair?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2. Associate yourself with the reinforcer</a:t>
            </a:r>
            <a:endParaRPr/>
          </a:p>
          <a:p>
            <a:pPr marL="0" marR="0" lvl="0" indent="139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Delivering the reinforcer</a:t>
            </a:r>
            <a:endParaRPr/>
          </a:p>
          <a:p>
            <a:pPr marL="914400" marR="0" lvl="1" indent="-50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Being around the reinforcer</a:t>
            </a:r>
            <a:endParaRPr/>
          </a:p>
          <a:p>
            <a:pPr marL="914400" marR="0" lvl="1" indent="-50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Jumping into the activity</a:t>
            </a:r>
            <a:endParaRPr/>
          </a:p>
          <a:p>
            <a:pPr marL="914400" marR="0" lvl="1" indent="-88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How do we pair?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3. Gradually introduce demands</a:t>
            </a:r>
            <a:endParaRPr/>
          </a:p>
          <a:p>
            <a:pPr marL="0" marR="0" lvl="0" indent="139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called Building i_______ c_______</a:t>
            </a:r>
            <a:endParaRPr/>
          </a:p>
          <a:p>
            <a:pPr marL="914400" marR="0" lvl="1" indent="-50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by introducing small tasks, then slowly increase frequency &amp; intensity of demands</a:t>
            </a:r>
            <a:endParaRPr/>
          </a:p>
          <a:p>
            <a:pPr marL="914400" marR="0" lvl="1" indent="-50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sure tasks are still paired with lots of positivity &amp; encouragement</a:t>
            </a:r>
            <a:endParaRPr/>
          </a:p>
          <a:p>
            <a:pPr marL="914400" marR="0" lvl="1" indent="-88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Things to remember:</a:t>
            </a: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841486" y="2055422"/>
            <a:ext cx="10509027" cy="3899299"/>
            <a:chOff x="3286" y="226622"/>
            <a:chExt cx="10509027" cy="3899299"/>
          </a:xfrm>
        </p:grpSpPr>
        <p:sp>
          <p:nvSpPr>
            <p:cNvPr id="159" name="Google Shape;159;p8"/>
            <p:cNvSpPr/>
            <p:nvPr/>
          </p:nvSpPr>
          <p:spPr>
            <a:xfrm>
              <a:off x="3286" y="226622"/>
              <a:ext cx="3203971" cy="948595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 txBox="1"/>
            <p:nvPr/>
          </p:nvSpPr>
          <p:spPr>
            <a:xfrm>
              <a:off x="206664" y="328474"/>
              <a:ext cx="2797200" cy="74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4900" tIns="105650" rIns="184900" bIns="105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Pairing is a continuous process</a:t>
              </a:r>
              <a:endParaRPr sz="1200"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3286" y="1175218"/>
              <a:ext cx="3203971" cy="2950703"/>
            </a:xfrm>
            <a:prstGeom prst="rect">
              <a:avLst/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 txBox="1"/>
            <p:nvPr/>
          </p:nvSpPr>
          <p:spPr>
            <a:xfrm>
              <a:off x="3286" y="1175218"/>
              <a:ext cx="3203971" cy="2950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675" tIns="138675" rIns="184900" bIns="208025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Char char="•"/>
              </a:pPr>
              <a:r>
                <a:rPr lang="en-US" sz="2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preferences change! 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Char char="•"/>
              </a:pPr>
              <a:r>
                <a:rPr lang="en-US" sz="2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Pairing should happen each session</a:t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3655814" y="226622"/>
              <a:ext cx="3203971" cy="948595"/>
            </a:xfrm>
            <a:prstGeom prst="rect">
              <a:avLst/>
            </a:prstGeom>
            <a:solidFill>
              <a:srgbClr val="8CAF1D"/>
            </a:solidFill>
            <a:ln w="19050" cap="flat" cmpd="sng">
              <a:solidFill>
                <a:srgbClr val="8CAF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 txBox="1"/>
            <p:nvPr/>
          </p:nvSpPr>
          <p:spPr>
            <a:xfrm>
              <a:off x="3655814" y="226622"/>
              <a:ext cx="3203971" cy="948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4900" tIns="105650" rIns="184900" bIns="105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lang="en-US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Pairing is not a “one size fits all” strategy</a:t>
              </a:r>
              <a:endParaRPr sz="1300"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655814" y="1175218"/>
              <a:ext cx="3203971" cy="2950703"/>
            </a:xfrm>
            <a:prstGeom prst="rect">
              <a:avLst/>
            </a:prstGeom>
            <a:solidFill>
              <a:srgbClr val="E2E6C8">
                <a:alpha val="89803"/>
              </a:srgbClr>
            </a:solidFill>
            <a:ln w="19050" cap="flat" cmpd="sng">
              <a:solidFill>
                <a:srgbClr val="E2E6C8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 txBox="1"/>
            <p:nvPr/>
          </p:nvSpPr>
          <p:spPr>
            <a:xfrm>
              <a:off x="3655814" y="1175218"/>
              <a:ext cx="3203971" cy="2950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675" tIns="138675" rIns="184900" bIns="208025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Char char="•"/>
              </a:pPr>
              <a:r>
                <a:rPr lang="en-US" sz="2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Each child &amp; BT might pair differently</a:t>
              </a: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7308342" y="226622"/>
              <a:ext cx="3203971" cy="948595"/>
            </a:xfrm>
            <a:prstGeom prst="rect">
              <a:avLst/>
            </a:prstGeom>
            <a:solidFill>
              <a:schemeClr val="accent5"/>
            </a:solidFill>
            <a:ln w="19050" cap="flat" cmpd="sng">
              <a:solidFill>
                <a:srgbClr val="1869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 txBox="1"/>
            <p:nvPr/>
          </p:nvSpPr>
          <p:spPr>
            <a:xfrm>
              <a:off x="7308342" y="226622"/>
              <a:ext cx="3203971" cy="948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4900" tIns="105650" rIns="184900" bIns="105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Pairing has it’s own timeline </a:t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7308342" y="1175218"/>
              <a:ext cx="3203971" cy="2950703"/>
            </a:xfrm>
            <a:prstGeom prst="rect">
              <a:avLst/>
            </a:prstGeom>
            <a:solidFill>
              <a:srgbClr val="F2CDED">
                <a:alpha val="89803"/>
              </a:srgbClr>
            </a:solidFill>
            <a:ln w="19050" cap="flat" cmpd="sng">
              <a:solidFill>
                <a:srgbClr val="CAD2CA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7308342" y="1175218"/>
              <a:ext cx="3203971" cy="2950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675" tIns="138675" rIns="184900" bIns="208025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Char char="•"/>
              </a:pPr>
              <a:r>
                <a:rPr lang="en-US" sz="2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Pairing can sometimes happen immediately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Char char="•"/>
              </a:pPr>
              <a:r>
                <a:rPr lang="en-US" sz="2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Sometimes a client never pairs with a BT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635000" y="640825"/>
            <a:ext cx="3616800" cy="55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Are there any challenges with pairing?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 rot="5400000">
            <a:off x="1627450" y="3462719"/>
            <a:ext cx="5410200" cy="18288"/>
          </a:xfrm>
          <a:custGeom>
            <a:avLst/>
            <a:gdLst/>
            <a:ahLst/>
            <a:cxnLst/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9"/>
          <p:cNvGrpSpPr/>
          <p:nvPr/>
        </p:nvGrpSpPr>
        <p:grpSpPr>
          <a:xfrm>
            <a:off x="4648018" y="1941442"/>
            <a:ext cx="6900512" cy="2934900"/>
            <a:chOff x="0" y="1300620"/>
            <a:chExt cx="6900512" cy="2934900"/>
          </a:xfrm>
        </p:grpSpPr>
        <p:sp>
          <p:nvSpPr>
            <p:cNvPr id="180" name="Google Shape;180;p9"/>
            <p:cNvSpPr/>
            <p:nvPr/>
          </p:nvSpPr>
          <p:spPr>
            <a:xfrm>
              <a:off x="0" y="1595820"/>
              <a:ext cx="6900512" cy="504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345025" y="1300620"/>
              <a:ext cx="4830358" cy="590399"/>
            </a:xfrm>
            <a:prstGeom prst="roundRect">
              <a:avLst>
                <a:gd name="adj" fmla="val 16667"/>
              </a:avLst>
            </a:prstGeom>
            <a:solidFill>
              <a:srgbClr val="A0289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373846" y="1329441"/>
              <a:ext cx="4772716" cy="5327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575" tIns="0" rIns="1825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Pairing should not be a catch-all phrase</a:t>
              </a: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0" y="2503020"/>
              <a:ext cx="6900512" cy="1732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9050" cap="flat" cmpd="sng">
              <a:solidFill>
                <a:srgbClr val="4CA62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0" y="2503020"/>
              <a:ext cx="6900512" cy="17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5550" tIns="416550" rIns="535550" bIns="142225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Pairing can be overused, creating a shift in instructional control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Pairing can be misused, creating a bad learning history </a:t>
              </a: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345025" y="2207820"/>
              <a:ext cx="4830358" cy="590399"/>
            </a:xfrm>
            <a:prstGeom prst="roundRect">
              <a:avLst>
                <a:gd name="adj" fmla="val 16667"/>
              </a:avLst>
            </a:prstGeom>
            <a:solidFill>
              <a:srgbClr val="4CA62C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 txBox="1"/>
            <p:nvPr/>
          </p:nvSpPr>
          <p:spPr>
            <a:xfrm>
              <a:off x="373846" y="2236641"/>
              <a:ext cx="4772716" cy="5327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575" tIns="0" rIns="1825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Pairing requires balance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Play"/>
              <a:buNone/>
            </a:pPr>
            <a:r>
              <a:rPr lang="en-US" sz="7200" u="sng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Here’s a quick recap &amp; resource</a:t>
            </a:r>
            <a:endParaRPr sz="7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1966912" y="5645150"/>
            <a:ext cx="8258176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– How to ABA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 txBox="1"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Let’s practice! </a:t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643278" y="2372868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 a group of 2 to role play (5-10 minutes)</a:t>
            </a:r>
            <a:endParaRPr/>
          </a:p>
          <a:p>
            <a:pPr marL="285750" marR="0" lvl="0" indent="-25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 with clients (15-20 minutes)</a:t>
            </a:r>
            <a:endParaRPr/>
          </a:p>
        </p:txBody>
      </p:sp>
      <p:pic>
        <p:nvPicPr>
          <p:cNvPr id="206" name="Google Shape;206;p11" descr="A screenshot of a survey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9870" y="640080"/>
            <a:ext cx="4197323" cy="557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Play</vt:lpstr>
      <vt:lpstr>Office Theme</vt:lpstr>
      <vt:lpstr>Pairing</vt:lpstr>
      <vt:lpstr>What is pairing?</vt:lpstr>
      <vt:lpstr>Why is pairing so important?</vt:lpstr>
      <vt:lpstr>What are some benefits of pairing?</vt:lpstr>
      <vt:lpstr>How do we pair?</vt:lpstr>
      <vt:lpstr>How do we pair?</vt:lpstr>
      <vt:lpstr>How do we pair?</vt:lpstr>
      <vt:lpstr>Things to remember:</vt:lpstr>
      <vt:lpstr>Are there any challenges with pairing?</vt:lpstr>
      <vt:lpstr>Here’s a quick recap &amp; resource</vt:lpstr>
      <vt:lpstr>Let’s practice!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Emma Rork</dc:creator>
  <cp:lastModifiedBy>Emma Rork</cp:lastModifiedBy>
  <cp:revision>1</cp:revision>
  <dcterms:created xsi:type="dcterms:W3CDTF">2025-04-17T01:18:38Z</dcterms:created>
  <dcterms:modified xsi:type="dcterms:W3CDTF">2026-01-19T15:55:34Z</dcterms:modified>
</cp:coreProperties>
</file>